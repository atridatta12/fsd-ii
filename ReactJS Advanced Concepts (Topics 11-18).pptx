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8" d="100"/>
          <a:sy n="108" d="100"/>
        </p:scale>
        <p:origin x="678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34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12" Type="http://schemas.openxmlformats.org/officeDocument/2006/relationships/image" Target="../media/image3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11" Type="http://schemas.openxmlformats.org/officeDocument/2006/relationships/image" Target="../media/image32.png"/><Relationship Id="rId5" Type="http://schemas.openxmlformats.org/officeDocument/2006/relationships/image" Target="../media/image26.png"/><Relationship Id="rId10" Type="http://schemas.openxmlformats.org/officeDocument/2006/relationships/image" Target="../media/image31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Relationship Id="rId14" Type="http://schemas.openxmlformats.org/officeDocument/2006/relationships/image" Target="../media/image3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10" Type="http://schemas.openxmlformats.org/officeDocument/2006/relationships/image" Target="../media/image43.png"/><Relationship Id="rId4" Type="http://schemas.openxmlformats.org/officeDocument/2006/relationships/image" Target="../media/image37.png"/><Relationship Id="rId9" Type="http://schemas.openxmlformats.org/officeDocument/2006/relationships/image" Target="../media/image4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49.png"/><Relationship Id="rId7" Type="http://schemas.openxmlformats.org/officeDocument/2006/relationships/image" Target="../media/image53.png"/><Relationship Id="rId12" Type="http://schemas.openxmlformats.org/officeDocument/2006/relationships/image" Target="../media/image5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2.png"/><Relationship Id="rId11" Type="http://schemas.openxmlformats.org/officeDocument/2006/relationships/image" Target="../media/image56.png"/><Relationship Id="rId5" Type="http://schemas.openxmlformats.org/officeDocument/2006/relationships/image" Target="../media/image51.png"/><Relationship Id="rId10" Type="http://schemas.openxmlformats.org/officeDocument/2006/relationships/image" Target="../media/image11.png"/><Relationship Id="rId4" Type="http://schemas.openxmlformats.org/officeDocument/2006/relationships/image" Target="../media/image50.png"/><Relationship Id="rId9" Type="http://schemas.openxmlformats.org/officeDocument/2006/relationships/image" Target="../media/image5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3" Type="http://schemas.openxmlformats.org/officeDocument/2006/relationships/image" Target="../media/image58.png"/><Relationship Id="rId7" Type="http://schemas.openxmlformats.org/officeDocument/2006/relationships/image" Target="../media/image6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59.png"/><Relationship Id="rId9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3" Type="http://schemas.openxmlformats.org/officeDocument/2006/relationships/image" Target="../media/image64.png"/><Relationship Id="rId7" Type="http://schemas.openxmlformats.org/officeDocument/2006/relationships/image" Target="../media/image6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7.png"/><Relationship Id="rId5" Type="http://schemas.openxmlformats.org/officeDocument/2006/relationships/image" Target="../media/image66.png"/><Relationship Id="rId10" Type="http://schemas.openxmlformats.org/officeDocument/2006/relationships/image" Target="../media/image71.png"/><Relationship Id="rId4" Type="http://schemas.openxmlformats.org/officeDocument/2006/relationships/image" Target="../media/image65.png"/><Relationship Id="rId9" Type="http://schemas.openxmlformats.org/officeDocument/2006/relationships/image" Target="../media/image7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0537" y="3618458"/>
            <a:ext cx="3590925" cy="9334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420415" y="2305942"/>
            <a:ext cx="9351168" cy="5770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484"/>
              </a:lnSpc>
            </a:pPr>
            <a:r>
              <a:rPr lang="en-GB" sz="3900" b="1" i="0" u="none" dirty="0" smtClean="0">
                <a:solidFill>
                  <a:srgbClr val="F8FAFC"/>
                </a:solidFill>
                <a:latin typeface="Space Grotesk"/>
              </a:rPr>
              <a:t>Introduction to </a:t>
            </a:r>
            <a:r>
              <a:rPr lang="en-GB" sz="3900" b="1" i="0" u="none" dirty="0" err="1" smtClean="0">
                <a:solidFill>
                  <a:srgbClr val="F8FAFC"/>
                </a:solidFill>
                <a:latin typeface="Space Grotesk"/>
              </a:rPr>
              <a:t>ReactJs</a:t>
            </a:r>
            <a:endParaRPr sz="3900" b="1" i="0" u="none" dirty="0">
              <a:solidFill>
                <a:srgbClr val="38BDF8"/>
              </a:solidFill>
              <a:latin typeface="Space Grotesk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476625" y="3018383"/>
            <a:ext cx="5238750" cy="26500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endParaRPr sz="1500" b="0" i="0" u="none" dirty="0">
              <a:solidFill>
                <a:srgbClr val="94A3B8"/>
              </a:solidFill>
              <a:latin typeface="Inter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691062" y="3818483"/>
            <a:ext cx="2809875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 u="none" dirty="0">
                <a:solidFill>
                  <a:srgbClr val="38BDF8"/>
                </a:solidFill>
                <a:latin typeface="Inter"/>
              </a:rPr>
              <a:t>L. ATRI DATTA RAVI TEZ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22018" y="4170908"/>
            <a:ext cx="2747962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0" i="0" u="none">
                <a:solidFill>
                  <a:srgbClr val="CBD5E1"/>
                </a:solidFill>
                <a:latin typeface="Inter SemiBold"/>
              </a:rPr>
              <a:t>ASST. PROFESSOR &amp; WEB ADMIN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10875" y="433387"/>
            <a:ext cx="895350" cy="2571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775" y="1038225"/>
            <a:ext cx="5524500" cy="374808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1725" y="1038225"/>
            <a:ext cx="5524500" cy="3748087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775" y="4900612"/>
            <a:ext cx="5524500" cy="21812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81725" y="4900612"/>
            <a:ext cx="5524500" cy="21812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43650" y="5405437"/>
            <a:ext cx="5200650" cy="151447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85775" y="390525"/>
            <a:ext cx="23241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50" b="1" i="0" u="none">
                <a:solidFill>
                  <a:srgbClr val="F8FAFC"/>
                </a:solidFill>
                <a:latin typeface="Inter"/>
              </a:rPr>
              <a:t>11. State in React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6775" y="1219200"/>
            <a:ext cx="5230653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75" b="0" i="0" u="none">
                <a:solidFill>
                  <a:srgbClr val="38BDF8"/>
                </a:solidFill>
                <a:latin typeface="Space Grotesk SemiBold"/>
              </a:rPr>
              <a:t>What is State? &amp; Key Points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19875" y="1219200"/>
            <a:ext cx="5170646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75" b="0" i="0" u="none">
                <a:solidFill>
                  <a:srgbClr val="38BDF8"/>
                </a:solidFill>
                <a:latin typeface="Space Grotesk SemiBold"/>
              </a:rPr>
              <a:t>State in Class Component Example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925" y="5081587"/>
            <a:ext cx="5170646" cy="2476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75" b="0" i="0" u="none">
                <a:solidFill>
                  <a:srgbClr val="38BDF8"/>
                </a:solidFill>
                <a:latin typeface="Space Grotesk SemiBold"/>
              </a:rPr>
              <a:t>How setState() Works &amp; Rules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1775" y="5062537"/>
            <a:ext cx="5210651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75" b="0" i="0" u="none">
                <a:solidFill>
                  <a:srgbClr val="38BDF8"/>
                </a:solidFill>
                <a:latin typeface="Space Grotesk SemiBold"/>
              </a:rPr>
              <a:t>State vs Props Quick Summary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7700" y="1243012"/>
            <a:ext cx="142875" cy="16192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00100" y="1543050"/>
            <a:ext cx="5048250" cy="1735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6"/>
              </a:lnSpc>
            </a:pPr>
            <a:r>
              <a:rPr sz="1012" b="1" i="0" u="none">
                <a:solidFill>
                  <a:srgbClr val="CBD5E1"/>
                </a:solidFill>
                <a:latin typeface="Inter"/>
              </a:rPr>
              <a:t>Built-in Object:</a:t>
            </a:r>
            <a:r>
              <a:rPr sz="1012" b="0" i="0" u="none">
                <a:solidFill>
                  <a:srgbClr val="CBD5E1"/>
                </a:solidFill>
                <a:latin typeface="Inter"/>
              </a:rPr>
              <a:t> Stores property values belonging to a component.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100" y="1773733"/>
            <a:ext cx="5048250" cy="1735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6"/>
              </a:lnSpc>
            </a:pPr>
            <a:r>
              <a:rPr sz="1012" b="1" i="0" u="none">
                <a:solidFill>
                  <a:srgbClr val="CBD5E1"/>
                </a:solidFill>
                <a:latin typeface="Inter"/>
              </a:rPr>
              <a:t>Triggers Re-render:</a:t>
            </a:r>
            <a:r>
              <a:rPr sz="1012" b="0" i="0" u="none">
                <a:solidFill>
                  <a:srgbClr val="CBD5E1"/>
                </a:solidFill>
                <a:latin typeface="Inter"/>
              </a:rPr>
              <a:t> When state changes, the component re-renders.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100" y="2004417"/>
            <a:ext cx="5048250" cy="1735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6"/>
              </a:lnSpc>
            </a:pPr>
            <a:r>
              <a:rPr sz="1012" b="1" i="0" u="none">
                <a:solidFill>
                  <a:srgbClr val="CBD5E1"/>
                </a:solidFill>
                <a:latin typeface="Inter"/>
              </a:rPr>
              <a:t>Mutable &amp; Private:</a:t>
            </a:r>
            <a:r>
              <a:rPr sz="1012" b="0" i="0" u="none">
                <a:solidFill>
                  <a:srgbClr val="CBD5E1"/>
                </a:solidFill>
                <a:latin typeface="Inter"/>
              </a:rPr>
              <a:t> Managed internally inside the component.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100" y="2235100"/>
            <a:ext cx="5048250" cy="3470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6"/>
              </a:lnSpc>
            </a:pPr>
            <a:r>
              <a:rPr sz="1012" b="1" i="0" u="none">
                <a:solidFill>
                  <a:srgbClr val="CBD5E1"/>
                </a:solidFill>
                <a:latin typeface="Inter"/>
              </a:rPr>
              <a:t>Class Components:</a:t>
            </a:r>
            <a:r>
              <a:rPr sz="1012" b="0" i="0" u="none">
                <a:solidFill>
                  <a:srgbClr val="CBD5E1"/>
                </a:solidFill>
                <a:latin typeface="Inter"/>
              </a:rPr>
              <a:t> Initialized in constructor, accessed via this.state, updated via this.setState().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100" y="2639317"/>
            <a:ext cx="5048250" cy="1735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6"/>
              </a:lnSpc>
            </a:pPr>
            <a:r>
              <a:rPr sz="1012" b="1" i="0" u="none">
                <a:solidFill>
                  <a:srgbClr val="CBD5E1"/>
                </a:solidFill>
                <a:latin typeface="Inter"/>
              </a:rPr>
              <a:t>Functional Components:</a:t>
            </a:r>
            <a:r>
              <a:rPr sz="1012" b="0" i="0" u="none">
                <a:solidFill>
                  <a:srgbClr val="CBD5E1"/>
                </a:solidFill>
                <a:latin typeface="Inter"/>
              </a:rPr>
              <a:t> Uses useState() hook (React 16.8+).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43650" y="1243012"/>
            <a:ext cx="200025" cy="161925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467475" y="1666875"/>
            <a:ext cx="3810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12"/>
              </a:lnSpc>
            </a:pPr>
            <a:r>
              <a:rPr sz="937" b="0" i="0" u="none">
                <a:solidFill>
                  <a:srgbClr val="C678DD"/>
                </a:solidFill>
                <a:latin typeface="Fira Code"/>
              </a:rPr>
              <a:t>class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24675" y="1666875"/>
            <a:ext cx="5334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12"/>
              </a:lnSpc>
            </a:pPr>
            <a:r>
              <a:rPr sz="937" b="0" i="0" u="none">
                <a:solidFill>
                  <a:srgbClr val="61AFEF"/>
                </a:solidFill>
                <a:latin typeface="Fira Code"/>
              </a:rPr>
              <a:t>Counter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34275" y="1666875"/>
            <a:ext cx="5334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12"/>
              </a:lnSpc>
            </a:pPr>
            <a:r>
              <a:rPr sz="937" b="0" i="0" u="none">
                <a:solidFill>
                  <a:srgbClr val="C678DD"/>
                </a:solidFill>
                <a:latin typeface="Fira Code"/>
              </a:rPr>
              <a:t>extends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19875" y="1833562"/>
            <a:ext cx="8382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12"/>
              </a:lnSpc>
            </a:pPr>
            <a:r>
              <a:rPr sz="937" b="0" i="0" u="none">
                <a:solidFill>
                  <a:srgbClr val="61AFEF"/>
                </a:solidFill>
                <a:latin typeface="Fira Code"/>
              </a:rPr>
              <a:t>constructor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72275" y="2000250"/>
            <a:ext cx="3810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12"/>
              </a:lnSpc>
            </a:pPr>
            <a:r>
              <a:rPr sz="937" b="0" i="0" u="none">
                <a:solidFill>
                  <a:srgbClr val="C678DD"/>
                </a:solidFill>
                <a:latin typeface="Fira Code"/>
              </a:rPr>
              <a:t>super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72275" y="2166937"/>
            <a:ext cx="3048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12"/>
              </a:lnSpc>
            </a:pPr>
            <a:r>
              <a:rPr sz="937" b="0" i="0" u="none">
                <a:solidFill>
                  <a:srgbClr val="C678DD"/>
                </a:solidFill>
                <a:latin typeface="Fira Code"/>
              </a:rPr>
              <a:t>this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29675" y="2166937"/>
            <a:ext cx="10668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12"/>
              </a:lnSpc>
            </a:pPr>
            <a:r>
              <a:rPr sz="937" b="0" i="1" u="none">
                <a:solidFill>
                  <a:srgbClr val="64748B"/>
                </a:solidFill>
                <a:latin typeface="Fira Code"/>
              </a:rPr>
              <a:t>// Initial state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72275" y="2667000"/>
            <a:ext cx="3048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12"/>
              </a:lnSpc>
            </a:pPr>
            <a:r>
              <a:rPr sz="937" b="0" i="0" u="none">
                <a:solidFill>
                  <a:srgbClr val="C678DD"/>
                </a:solidFill>
                <a:latin typeface="Fira Code"/>
              </a:rPr>
              <a:t>this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53275" y="2667000"/>
            <a:ext cx="6096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12"/>
              </a:lnSpc>
            </a:pPr>
            <a:r>
              <a:rPr sz="937" b="0" i="0" u="none">
                <a:solidFill>
                  <a:srgbClr val="61AFEF"/>
                </a:solidFill>
                <a:latin typeface="Fira Code"/>
              </a:rPr>
              <a:t>setState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24875" y="2667000"/>
            <a:ext cx="3048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12"/>
              </a:lnSpc>
            </a:pPr>
            <a:r>
              <a:rPr sz="937" b="0" i="0" u="none">
                <a:solidFill>
                  <a:srgbClr val="C678DD"/>
                </a:solidFill>
                <a:latin typeface="Fira Code"/>
              </a:rPr>
              <a:t>this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19875" y="3000375"/>
            <a:ext cx="4572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12"/>
              </a:lnSpc>
            </a:pPr>
            <a:r>
              <a:rPr sz="937" b="0" i="0" u="none">
                <a:solidFill>
                  <a:srgbClr val="61AFEF"/>
                </a:solidFill>
                <a:latin typeface="Fira Code"/>
              </a:rPr>
              <a:t>render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72275" y="3167062"/>
            <a:ext cx="4572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12"/>
              </a:lnSpc>
            </a:pPr>
            <a:r>
              <a:rPr sz="937" b="0" i="0" u="none">
                <a:solidFill>
                  <a:srgbClr val="C678DD"/>
                </a:solidFill>
                <a:latin typeface="Fira Code"/>
              </a:rPr>
              <a:t>return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86675" y="3500437"/>
            <a:ext cx="3048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12"/>
              </a:lnSpc>
            </a:pPr>
            <a:r>
              <a:rPr sz="937" b="0" i="0" u="none">
                <a:solidFill>
                  <a:srgbClr val="C678DD"/>
                </a:solidFill>
                <a:latin typeface="Fira Code"/>
              </a:rPr>
              <a:t>this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53275" y="3667125"/>
            <a:ext cx="5334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12"/>
              </a:lnSpc>
            </a:pPr>
            <a:r>
              <a:rPr sz="937" b="0" i="0" u="none">
                <a:solidFill>
                  <a:srgbClr val="D19A66"/>
                </a:solidFill>
                <a:latin typeface="Fira Code"/>
              </a:rPr>
              <a:t>onClick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39075" y="3667125"/>
            <a:ext cx="3048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12"/>
              </a:lnSpc>
            </a:pPr>
            <a:r>
              <a:rPr sz="937" b="0" i="0" u="none">
                <a:solidFill>
                  <a:srgbClr val="C678DD"/>
                </a:solidFill>
                <a:latin typeface="Fira Code"/>
              </a:rPr>
              <a:t>this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82075" y="3667125"/>
            <a:ext cx="762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12"/>
              </a:lnSpc>
            </a:pPr>
            <a:r>
              <a:rPr sz="937" b="0" i="0" u="none">
                <a:solidFill>
                  <a:srgbClr val="E06C75"/>
                </a:solidFill>
                <a:latin typeface="Fira Code"/>
              </a:rPr>
              <a:t>&gt;</a:t>
            </a:r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7700" y="5124450"/>
            <a:ext cx="200025" cy="161925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800100" y="5443537"/>
            <a:ext cx="5048250" cy="1735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6"/>
              </a:lnSpc>
            </a:pPr>
            <a:r>
              <a:rPr sz="1012" b="0" i="0" u="none">
                <a:solidFill>
                  <a:srgbClr val="CBD5E1"/>
                </a:solidFill>
                <a:latin typeface="Inter"/>
              </a:rPr>
              <a:t>Schedules an update; batches multiple calls for performance.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0100" y="5674221"/>
            <a:ext cx="5048250" cy="1735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6"/>
              </a:lnSpc>
            </a:pPr>
            <a:r>
              <a:rPr sz="1012" b="1" i="0" u="none">
                <a:solidFill>
                  <a:srgbClr val="CBD5E1"/>
                </a:solidFill>
                <a:latin typeface="Inter"/>
              </a:rPr>
              <a:t>Asynchronous:</a:t>
            </a:r>
            <a:r>
              <a:rPr sz="1012" b="0" i="0" u="none">
                <a:solidFill>
                  <a:srgbClr val="CBD5E1"/>
                </a:solidFill>
                <a:latin typeface="Inter"/>
              </a:rPr>
              <a:t> Does NOT update state immediately.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0100" y="5904904"/>
            <a:ext cx="5048250" cy="1735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6"/>
              </a:lnSpc>
            </a:pPr>
            <a:r>
              <a:rPr sz="1012" b="1" i="0" u="none">
                <a:solidFill>
                  <a:srgbClr val="CBD5E1"/>
                </a:solidFill>
                <a:latin typeface="Inter"/>
              </a:rPr>
              <a:t>Rule:</a:t>
            </a:r>
            <a:r>
              <a:rPr sz="1012" b="0" i="0" u="none">
                <a:solidFill>
                  <a:srgbClr val="CBD5E1"/>
                </a:solidFill>
                <a:latin typeface="Inter"/>
              </a:rPr>
              <a:t> Do NOT modify state directly (this.state.count = 1 ❌).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0100" y="6135588"/>
            <a:ext cx="5048250" cy="1735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6"/>
              </a:lnSpc>
            </a:pPr>
            <a:r>
              <a:rPr sz="1012" b="1" i="0" u="none">
                <a:solidFill>
                  <a:srgbClr val="CBD5E1"/>
                </a:solidFill>
                <a:latin typeface="Inter"/>
              </a:rPr>
              <a:t>Functional Updates:</a:t>
            </a:r>
            <a:r>
              <a:rPr sz="1012" b="0" i="0" u="none">
                <a:solidFill>
                  <a:srgbClr val="CBD5E1"/>
                </a:solidFill>
                <a:latin typeface="Inter"/>
              </a:rPr>
              <a:t> Use callback for multiple updates: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1525" y="6528196"/>
            <a:ext cx="3048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12"/>
              </a:lnSpc>
            </a:pPr>
            <a:r>
              <a:rPr sz="937" b="0" i="0" u="none">
                <a:solidFill>
                  <a:srgbClr val="C678DD"/>
                </a:solidFill>
                <a:latin typeface="Fira Code"/>
              </a:rPr>
              <a:t>this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52525" y="6528196"/>
            <a:ext cx="6096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12"/>
              </a:lnSpc>
            </a:pPr>
            <a:r>
              <a:rPr sz="937" b="0" i="0" u="none">
                <a:solidFill>
                  <a:srgbClr val="61AFEF"/>
                </a:solidFill>
                <a:latin typeface="Fira Code"/>
              </a:rPr>
              <a:t>setState</a:t>
            </a:r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43650" y="5086350"/>
            <a:ext cx="161925" cy="161925"/>
          </a:xfrm>
          <a:prstGeom prst="rect">
            <a:avLst/>
          </a:prstGeom>
        </p:spPr>
      </p:pic>
      <p:graphicFrame>
        <p:nvGraphicFramePr>
          <p:cNvPr id="45" name="Table 44"/>
          <p:cNvGraphicFramePr>
            <a:graphicFrameLocks noGrp="1"/>
          </p:cNvGraphicFramePr>
          <p:nvPr/>
        </p:nvGraphicFramePr>
        <p:xfrm>
          <a:off x="6353175" y="5414962"/>
          <a:ext cx="5181599" cy="14954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26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353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235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9085"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8BDF8"/>
                          </a:solidFill>
                          <a:latin typeface="Space Grotesk SemiBold"/>
                        </a:rPr>
                        <a:t>Feature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8BDF8"/>
                          </a:solidFill>
                          <a:latin typeface="Space Grotesk SemiBold"/>
                        </a:rPr>
                        <a:t>State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8BDF8"/>
                          </a:solidFill>
                          <a:latin typeface="Space Grotesk SemiBold"/>
                        </a:rPr>
                        <a:t>Props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9085"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CBD5E1"/>
                          </a:solidFill>
                          <a:latin typeface="Inter"/>
                        </a:rPr>
                        <a:t>Mutable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31C3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CBD5E1"/>
                          </a:solidFill>
                          <a:latin typeface="Inter"/>
                        </a:rPr>
                        <a:t>Yes (Can be changed)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31C3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CBD5E1"/>
                          </a:solidFill>
                          <a:latin typeface="Inter"/>
                        </a:rPr>
                        <a:t>No (Read-only)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31C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9085"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CBD5E1"/>
                          </a:solidFill>
                          <a:latin typeface="Inter"/>
                        </a:rPr>
                        <a:t>Owned By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31C3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CBD5E1"/>
                          </a:solidFill>
                          <a:latin typeface="Inter"/>
                        </a:rPr>
                        <a:t>Component itself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31C3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CBD5E1"/>
                          </a:solidFill>
                          <a:latin typeface="Inter"/>
                        </a:rPr>
                        <a:t>Passed by Parent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31C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9085"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CBD5E1"/>
                          </a:solidFill>
                          <a:latin typeface="Inter"/>
                        </a:rPr>
                        <a:t>Updated Using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31C3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CBD5E1"/>
                          </a:solidFill>
                          <a:latin typeface="Inter"/>
                        </a:rPr>
                        <a:t>setState() / Hook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31C3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CBD5E1"/>
                          </a:solidFill>
                          <a:latin typeface="Inter"/>
                        </a:rPr>
                        <a:t>Parent Component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31C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9085"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CBD5E1"/>
                          </a:solidFill>
                          <a:latin typeface="Inter"/>
                        </a:rPr>
                        <a:t>Triggers Re-render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31C3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CBD5E1"/>
                          </a:solidFill>
                          <a:latin typeface="Inter"/>
                        </a:rPr>
                        <a:t>Yes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31C3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CBD5E1"/>
                          </a:solidFill>
                          <a:latin typeface="Inter"/>
                        </a:rPr>
                        <a:t>Yes (when changed)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31C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6" name="TextBox 45"/>
          <p:cNvSpPr txBox="1"/>
          <p:nvPr/>
        </p:nvSpPr>
        <p:spPr>
          <a:xfrm>
            <a:off x="647700" y="1543050"/>
            <a:ext cx="857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1200" b="0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7700" y="1773733"/>
            <a:ext cx="857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1200" b="0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7700" y="2004417"/>
            <a:ext cx="857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1200" b="0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7700" y="2235100"/>
            <a:ext cx="857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1200" b="0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7700" y="2639317"/>
            <a:ext cx="857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1200" b="0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7700" y="5443537"/>
            <a:ext cx="857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1200" b="0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7700" y="5674221"/>
            <a:ext cx="857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1200" b="0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7700" y="5904904"/>
            <a:ext cx="857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1200" b="0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7700" y="6135588"/>
            <a:ext cx="857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1200" b="0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353175" y="6010275"/>
            <a:ext cx="1622673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7975848" y="6010275"/>
            <a:ext cx="1835348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9811196" y="6010275"/>
            <a:ext cx="1723578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6353175" y="6305550"/>
            <a:ext cx="1622673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7975848" y="6305550"/>
            <a:ext cx="1835348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9811196" y="6305550"/>
            <a:ext cx="1723578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6353175" y="6610350"/>
            <a:ext cx="1622673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7975848" y="6610350"/>
            <a:ext cx="1835348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9811196" y="6610350"/>
            <a:ext cx="1723578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10875" y="433387"/>
            <a:ext cx="895350" cy="2571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775" y="1038225"/>
            <a:ext cx="5524500" cy="241548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1725" y="1038225"/>
            <a:ext cx="5524500" cy="241548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775" y="3568005"/>
            <a:ext cx="5524500" cy="2895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81725" y="3568005"/>
            <a:ext cx="5524500" cy="28956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43650" y="4129980"/>
            <a:ext cx="5200650" cy="183832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85775" y="390525"/>
            <a:ext cx="3686175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50" b="1" i="0" u="none">
                <a:solidFill>
                  <a:srgbClr val="F8FAFC"/>
                </a:solidFill>
                <a:latin typeface="Inter"/>
              </a:rPr>
              <a:t>12. Effect Hook (useEffect)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6775" y="1219200"/>
            <a:ext cx="5230653" cy="2476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75" b="0" i="0" u="none">
                <a:solidFill>
                  <a:srgbClr val="38BDF8"/>
                </a:solidFill>
                <a:latin typeface="Space Grotesk SemiBold"/>
              </a:rPr>
              <a:t>What &amp; Syntax of useEffect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700" y="1543050"/>
            <a:ext cx="5200650" cy="386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0" i="0" u="none">
                <a:solidFill>
                  <a:srgbClr val="CBD5E1"/>
                </a:solidFill>
                <a:latin typeface="Inter"/>
              </a:rPr>
              <a:t>Performs side effects in function components (runs after rendering). Used for API fetching, timers, subscription, DOM manipulation.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00825" y="1219200"/>
            <a:ext cx="5190648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75" b="0" i="0" u="none">
                <a:solidFill>
                  <a:srgbClr val="38BDF8"/>
                </a:solidFill>
                <a:latin typeface="Space Grotesk SemiBold"/>
              </a:rPr>
              <a:t>Cleanup Function &amp; Use Cases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43650" y="1504950"/>
            <a:ext cx="5200650" cy="386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CBD5E1"/>
                </a:solidFill>
                <a:latin typeface="Inter"/>
              </a:rPr>
              <a:t>Cleanup runs:</a:t>
            </a:r>
            <a:r>
              <a:rPr sz="1050" b="0" i="0" u="none">
                <a:solidFill>
                  <a:srgbClr val="CBD5E1"/>
                </a:solidFill>
                <a:latin typeface="Inter"/>
              </a:rPr>
              <a:t> Before component unmounts OR before re-running effect on dependency change.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43650" y="1967805"/>
            <a:ext cx="5200650" cy="386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CBD5E1"/>
                </a:solidFill>
                <a:latin typeface="Inter"/>
              </a:rPr>
              <a:t>Use Cases:</a:t>
            </a:r>
            <a:r>
              <a:rPr sz="1050" b="0" i="0" u="none">
                <a:solidFill>
                  <a:srgbClr val="CBD5E1"/>
                </a:solidFill>
                <a:latin typeface="Inter"/>
              </a:rPr>
              <a:t> 1. Fetching API data | 2. Subscriptions | 3. Timer intervals | 4. Resource cleanup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925" y="3729930"/>
            <a:ext cx="5170646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75" b="0" i="0" u="none">
                <a:solidFill>
                  <a:srgbClr val="38BDF8"/>
                </a:solidFill>
                <a:latin typeface="Space Grotesk SemiBold"/>
              </a:rPr>
              <a:t>Example Code with Cleanup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1775" y="3748980"/>
            <a:ext cx="5210651" cy="2476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75" b="0" i="0" u="none">
                <a:solidFill>
                  <a:srgbClr val="38BDF8"/>
                </a:solidFill>
                <a:latin typeface="Space Grotesk SemiBold"/>
              </a:rPr>
              <a:t>useEffect Behavior Summary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7700" y="1262062"/>
            <a:ext cx="142875" cy="16192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71525" y="2167830"/>
            <a:ext cx="6858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12"/>
              </a:lnSpc>
            </a:pPr>
            <a:r>
              <a:rPr sz="937" b="0" i="0" u="none">
                <a:solidFill>
                  <a:srgbClr val="61AFEF"/>
                </a:solidFill>
                <a:latin typeface="Fira Code"/>
              </a:rPr>
              <a:t>useEffect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925" y="2334517"/>
            <a:ext cx="12668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12"/>
              </a:lnSpc>
            </a:pPr>
            <a:r>
              <a:rPr sz="937" b="0" i="1" u="none">
                <a:solidFill>
                  <a:srgbClr val="64748B"/>
                </a:solidFill>
                <a:latin typeface="Fira Code"/>
              </a:rPr>
              <a:t>// Side effect code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925" y="2501205"/>
            <a:ext cx="4572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12"/>
              </a:lnSpc>
            </a:pPr>
            <a:r>
              <a:rPr sz="937" b="0" i="0" u="none">
                <a:solidFill>
                  <a:srgbClr val="C678DD"/>
                </a:solidFill>
                <a:latin typeface="Fira Code"/>
              </a:rPr>
              <a:t>return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6325" y="2667892"/>
            <a:ext cx="17335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12"/>
              </a:lnSpc>
            </a:pPr>
            <a:r>
              <a:rPr sz="937" b="0" i="1" u="none">
                <a:solidFill>
                  <a:srgbClr val="64748B"/>
                </a:solidFill>
                <a:latin typeface="Fira Code"/>
              </a:rPr>
              <a:t>// Cleanup code (optional)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43650" y="1243012"/>
            <a:ext cx="180975" cy="161925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7700" y="3753742"/>
            <a:ext cx="200025" cy="16192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71525" y="4177605"/>
            <a:ext cx="4572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12"/>
              </a:lnSpc>
            </a:pPr>
            <a:r>
              <a:rPr sz="937" b="0" i="0" u="none">
                <a:solidFill>
                  <a:srgbClr val="C678DD"/>
                </a:solidFill>
                <a:latin typeface="Fira Code"/>
              </a:rPr>
              <a:t>import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67125" y="4177605"/>
            <a:ext cx="3048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12"/>
              </a:lnSpc>
            </a:pPr>
            <a:r>
              <a:rPr sz="937" b="0" i="0" u="none">
                <a:solidFill>
                  <a:srgbClr val="C678DD"/>
                </a:solidFill>
                <a:latin typeface="Fira Code"/>
              </a:rPr>
              <a:t>from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48125" y="4177605"/>
            <a:ext cx="5334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12"/>
              </a:lnSpc>
            </a:pPr>
            <a:r>
              <a:rPr sz="937" b="0" i="0" u="none">
                <a:solidFill>
                  <a:srgbClr val="98C379"/>
                </a:solidFill>
                <a:latin typeface="Fira Code"/>
              </a:rPr>
              <a:t>'react'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1525" y="4510980"/>
            <a:ext cx="6096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12"/>
              </a:lnSpc>
            </a:pPr>
            <a:r>
              <a:rPr sz="937" b="0" i="0" u="none">
                <a:solidFill>
                  <a:srgbClr val="C678DD"/>
                </a:solidFill>
                <a:latin typeface="Fira Code"/>
              </a:rPr>
              <a:t>function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57325" y="4510980"/>
            <a:ext cx="3048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12"/>
              </a:lnSpc>
            </a:pPr>
            <a:r>
              <a:rPr sz="937" b="0" i="0" u="none">
                <a:solidFill>
                  <a:srgbClr val="61AFEF"/>
                </a:solidFill>
                <a:latin typeface="Fira Code"/>
              </a:rPr>
              <a:t>User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3925" y="4677667"/>
            <a:ext cx="3810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12"/>
              </a:lnSpc>
            </a:pPr>
            <a:r>
              <a:rPr sz="937" b="0" i="0" u="none">
                <a:solidFill>
                  <a:srgbClr val="C678DD"/>
                </a:solidFill>
                <a:latin typeface="Fira Code"/>
              </a:rPr>
              <a:t>const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05125" y="4677667"/>
            <a:ext cx="6096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12"/>
              </a:lnSpc>
            </a:pPr>
            <a:r>
              <a:rPr sz="937" b="0" i="0" u="none">
                <a:solidFill>
                  <a:srgbClr val="61AFEF"/>
                </a:solidFill>
                <a:latin typeface="Fira Code"/>
              </a:rPr>
              <a:t>useState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3925" y="5011042"/>
            <a:ext cx="6858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12"/>
              </a:lnSpc>
            </a:pPr>
            <a:r>
              <a:rPr sz="937" b="0" i="0" u="none">
                <a:solidFill>
                  <a:srgbClr val="61AFEF"/>
                </a:solidFill>
                <a:latin typeface="Fira Code"/>
              </a:rPr>
              <a:t>useEffect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85925" y="5177730"/>
            <a:ext cx="2286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12"/>
              </a:lnSpc>
            </a:pPr>
            <a:r>
              <a:rPr sz="937" b="0" i="0" u="none">
                <a:solidFill>
                  <a:srgbClr val="61AFEF"/>
                </a:solidFill>
                <a:latin typeface="Fira Code"/>
              </a:rPr>
              <a:t>log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90725" y="5177730"/>
            <a:ext cx="27432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12"/>
              </a:lnSpc>
            </a:pPr>
            <a:r>
              <a:rPr sz="937" b="0" i="0" u="none">
                <a:solidFill>
                  <a:srgbClr val="98C379"/>
                </a:solidFill>
                <a:latin typeface="Fira Code"/>
              </a:rPr>
              <a:t>"Component mounted / Count changed:"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6325" y="5344417"/>
            <a:ext cx="4572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12"/>
              </a:lnSpc>
            </a:pPr>
            <a:r>
              <a:rPr sz="937" b="0" i="0" u="none">
                <a:solidFill>
                  <a:srgbClr val="C678DD"/>
                </a:solidFill>
                <a:latin typeface="Fira Code"/>
              </a:rPr>
              <a:t>return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76525" y="5344417"/>
            <a:ext cx="2286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12"/>
              </a:lnSpc>
            </a:pPr>
            <a:r>
              <a:rPr sz="937" b="0" i="0" u="none">
                <a:solidFill>
                  <a:srgbClr val="61AFEF"/>
                </a:solidFill>
                <a:latin typeface="Fira Code"/>
              </a:rPr>
              <a:t>log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981325" y="5344417"/>
            <a:ext cx="20574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12"/>
              </a:lnSpc>
            </a:pPr>
            <a:r>
              <a:rPr sz="937" b="0" i="0" u="none">
                <a:solidFill>
                  <a:srgbClr val="98C379"/>
                </a:solidFill>
                <a:latin typeface="Fira Code"/>
              </a:rPr>
              <a:t>"Cleanup on unmount/change"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14525" y="5511105"/>
            <a:ext cx="15335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12"/>
              </a:lnSpc>
            </a:pPr>
            <a:r>
              <a:rPr sz="937" b="0" i="1" u="none">
                <a:solidFill>
                  <a:srgbClr val="64748B"/>
                </a:solidFill>
                <a:latin typeface="Fira Code"/>
              </a:rPr>
              <a:t>// Runs on count change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3925" y="5844480"/>
            <a:ext cx="4572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12"/>
              </a:lnSpc>
            </a:pPr>
            <a:r>
              <a:rPr sz="937" b="0" i="0" u="none">
                <a:solidFill>
                  <a:srgbClr val="C678DD"/>
                </a:solidFill>
                <a:latin typeface="Fira Code"/>
              </a:rPr>
              <a:t>return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33525" y="5844480"/>
            <a:ext cx="5334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12"/>
              </a:lnSpc>
            </a:pPr>
            <a:r>
              <a:rPr sz="937" b="0" i="0" u="none">
                <a:solidFill>
                  <a:srgbClr val="D19A66"/>
                </a:solidFill>
                <a:latin typeface="Fira Code"/>
              </a:rPr>
              <a:t>onClick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676525" y="5844480"/>
            <a:ext cx="6096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12"/>
              </a:lnSpc>
            </a:pPr>
            <a:r>
              <a:rPr sz="937" b="0" i="0" u="none">
                <a:solidFill>
                  <a:srgbClr val="61AFEF"/>
                </a:solidFill>
                <a:latin typeface="Fira Code"/>
              </a:rPr>
              <a:t>setCount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200525" y="5844480"/>
            <a:ext cx="762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12"/>
              </a:lnSpc>
            </a:pPr>
            <a:r>
              <a:rPr sz="937" b="0" i="0" u="none">
                <a:solidFill>
                  <a:srgbClr val="E06C75"/>
                </a:solidFill>
                <a:latin typeface="Fira Code"/>
              </a:rPr>
              <a:t>&gt;</a:t>
            </a:r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43650" y="3791842"/>
            <a:ext cx="161925" cy="161925"/>
          </a:xfrm>
          <a:prstGeom prst="rect">
            <a:avLst/>
          </a:prstGeom>
        </p:spPr>
      </p:pic>
      <p:graphicFrame>
        <p:nvGraphicFramePr>
          <p:cNvPr id="43" name="Table 42"/>
          <p:cNvGraphicFramePr>
            <a:graphicFrameLocks noGrp="1"/>
          </p:cNvGraphicFramePr>
          <p:nvPr/>
        </p:nvGraphicFramePr>
        <p:xfrm>
          <a:off x="6353175" y="4139505"/>
          <a:ext cx="5181599" cy="18192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85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94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28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07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4818"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8BDF8"/>
                          </a:solidFill>
                          <a:latin typeface="Space Grotesk SemiBold"/>
                        </a:rPr>
                        <a:t>Dependency Array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8BDF8"/>
                          </a:solidFill>
                          <a:latin typeface="Space Grotesk SemiBold"/>
                        </a:rPr>
                        <a:t>When It Runs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8BDF8"/>
                          </a:solidFill>
                          <a:latin typeface="Space Grotesk SemiBold"/>
                        </a:rPr>
                        <a:t>Cleanup Runs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8BDF8"/>
                          </a:solidFill>
                          <a:latin typeface="Space Grotesk SemiBold"/>
                        </a:rPr>
                        <a:t>Use Case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4818"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CBD5E1"/>
                          </a:solidFill>
                          <a:latin typeface="Inter"/>
                        </a:rPr>
                        <a:t>[] (Empty)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31C3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CBD5E1"/>
                          </a:solidFill>
                          <a:latin typeface="Inter"/>
                        </a:rPr>
                        <a:t>Once after first render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31C3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CBD5E1"/>
                          </a:solidFill>
                          <a:latin typeface="Inter"/>
                        </a:rPr>
                        <a:t>On unmount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31C3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CBD5E1"/>
                          </a:solidFill>
                          <a:latin typeface="Inter"/>
                        </a:rPr>
                        <a:t>API fetch, initial setup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31C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4818"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CBD5E1"/>
                          </a:solidFill>
                          <a:latin typeface="Inter"/>
                        </a:rPr>
                        <a:t>[dep] (With values)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31C3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CBD5E1"/>
                          </a:solidFill>
                          <a:latin typeface="Inter"/>
                        </a:rPr>
                        <a:t>When dep changes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31C3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CBD5E1"/>
                          </a:solidFill>
                          <a:latin typeface="Inter"/>
                        </a:rPr>
                        <a:t>Before next run &amp; unmount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31C3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CBD5E1"/>
                          </a:solidFill>
                          <a:latin typeface="Inter"/>
                        </a:rPr>
                        <a:t>Updates based on props/state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31C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4821"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CBD5E1"/>
                          </a:solidFill>
                          <a:latin typeface="Inter"/>
                        </a:rPr>
                        <a:t>No array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31C3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CBD5E1"/>
                          </a:solidFill>
                          <a:latin typeface="Inter"/>
                        </a:rPr>
                        <a:t>After </a:t>
                      </a:r>
                      <a:r>
                        <a:rPr sz="975" b="0" i="1" u="none">
                          <a:solidFill>
                            <a:srgbClr val="CBD5E1"/>
                          </a:solidFill>
                          <a:latin typeface="Inter"/>
                        </a:rPr>
                        <a:t>every</a:t>
                      </a:r>
                      <a:r>
                        <a:rPr sz="975" b="0" i="0" u="none">
                          <a:solidFill>
                            <a:srgbClr val="CBD5E1"/>
                          </a:solidFill>
                          <a:latin typeface="Inter"/>
                        </a:rPr>
                        <a:t> render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31C3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CBD5E1"/>
                          </a:solidFill>
                          <a:latin typeface="Inter"/>
                        </a:rPr>
                        <a:t>Before next run &amp; unmount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31C3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CBD5E1"/>
                          </a:solidFill>
                          <a:latin typeface="Inter"/>
                        </a:rPr>
                        <a:t>Rare use (not recommended)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31C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4" name="Rectangle 43"/>
          <p:cNvSpPr/>
          <p:nvPr/>
        </p:nvSpPr>
        <p:spPr>
          <a:xfrm>
            <a:off x="6353175" y="5049142"/>
            <a:ext cx="1248519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7601694" y="5049142"/>
            <a:ext cx="1119485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8721179" y="5049142"/>
            <a:ext cx="1262806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9983985" y="5049142"/>
            <a:ext cx="1550789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6353175" y="5506342"/>
            <a:ext cx="1248519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7601694" y="5506342"/>
            <a:ext cx="1119485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8721179" y="5506342"/>
            <a:ext cx="1262806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9983985" y="5506342"/>
            <a:ext cx="1550789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10875" y="433387"/>
            <a:ext cx="895350" cy="2571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775" y="1422052"/>
            <a:ext cx="3543300" cy="532804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4350" y="1422052"/>
            <a:ext cx="3543300" cy="532804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62925" y="1422052"/>
            <a:ext cx="3543300" cy="53280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5775" y="2145357"/>
            <a:ext cx="3651200" cy="1589484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70325" y="2145357"/>
            <a:ext cx="3651200" cy="1589484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54875" y="2145357"/>
            <a:ext cx="3651349" cy="1589484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5775" y="3830091"/>
            <a:ext cx="5524500" cy="19050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81725" y="3830091"/>
            <a:ext cx="5524500" cy="19050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7700" y="4334916"/>
            <a:ext cx="5200650" cy="12382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85775" y="390525"/>
            <a:ext cx="5915025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50" b="1" i="0" u="none">
                <a:solidFill>
                  <a:srgbClr val="F8FAFC"/>
                </a:solidFill>
                <a:latin typeface="Inter"/>
              </a:rPr>
              <a:t>13. Lifecycle Methods (Class Components)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5775" y="1038225"/>
            <a:ext cx="11220450" cy="1933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0" i="0" u="none">
                <a:solidFill>
                  <a:srgbClr val="CBD5E1"/>
                </a:solidFill>
                <a:latin typeface="Inter"/>
              </a:rPr>
              <a:t>React components go through 3 primary phases in their lifecycle: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05275" y="1597967"/>
            <a:ext cx="14287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38BDF8"/>
                </a:solidFill>
                <a:latin typeface="Inter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43850" y="1597967"/>
            <a:ext cx="14287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38BDF8"/>
                </a:solidFill>
                <a:latin typeface="Inter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7206" y="1526827"/>
            <a:ext cx="3500437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F8FAFC"/>
                </a:solidFill>
                <a:latin typeface="Inter"/>
              </a:rPr>
              <a:t>1. Mounting (Birth)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0550" y="1698277"/>
            <a:ext cx="3333750" cy="1518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196"/>
              </a:lnSpc>
            </a:pPr>
            <a:r>
              <a:rPr sz="825" b="0" i="0" u="none">
                <a:solidFill>
                  <a:srgbClr val="94A3B8"/>
                </a:solidFill>
                <a:latin typeface="Inter"/>
              </a:rPr>
              <a:t>Added to DOM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5781" y="1526827"/>
            <a:ext cx="3500437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F8FAFC"/>
                </a:solidFill>
                <a:latin typeface="Inter"/>
              </a:rPr>
              <a:t>2. Updating (Change)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29125" y="1698277"/>
            <a:ext cx="3333750" cy="1518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196"/>
              </a:lnSpc>
            </a:pPr>
            <a:r>
              <a:rPr sz="825" b="0" i="0" u="none">
                <a:solidFill>
                  <a:srgbClr val="94A3B8"/>
                </a:solidFill>
                <a:latin typeface="Inter"/>
              </a:rPr>
              <a:t>State/Props change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84356" y="1526827"/>
            <a:ext cx="3500437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F8FAFC"/>
                </a:solidFill>
                <a:latin typeface="Inter"/>
              </a:rPr>
              <a:t>3. Unmounting (Death)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67700" y="1698277"/>
            <a:ext cx="3333750" cy="1518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196"/>
              </a:lnSpc>
            </a:pPr>
            <a:r>
              <a:rPr sz="825" b="0" i="0" u="none">
                <a:solidFill>
                  <a:srgbClr val="94A3B8"/>
                </a:solidFill>
                <a:latin typeface="Inter"/>
              </a:rPr>
              <a:t>Removed from DOM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7700" y="2326332"/>
            <a:ext cx="3493717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75" b="0" i="0" u="none">
                <a:solidFill>
                  <a:srgbClr val="38BDF8"/>
                </a:solidFill>
                <a:latin typeface="Space Grotesk SemiBold"/>
              </a:rPr>
              <a:t>1. Mounting Phase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2250" y="2326332"/>
            <a:ext cx="3493717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75" b="0" i="0" u="none">
                <a:solidFill>
                  <a:srgbClr val="38BDF8"/>
                </a:solidFill>
                <a:latin typeface="Space Grotesk SemiBold"/>
              </a:rPr>
              <a:t>2. Updating Phase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16800" y="2326332"/>
            <a:ext cx="3493874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75" b="0" i="0" u="none">
                <a:solidFill>
                  <a:srgbClr val="38BDF8"/>
                </a:solidFill>
                <a:latin typeface="Space Grotesk SemiBold"/>
              </a:rPr>
              <a:t>3. Unmounting Phase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5825" y="3992016"/>
            <a:ext cx="5210651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75" b="0" i="0" u="none">
                <a:solidFill>
                  <a:srgbClr val="38BDF8"/>
                </a:solidFill>
                <a:latin typeface="Space Grotesk SemiBold"/>
              </a:rPr>
              <a:t>Class Lifecycle vs Hooks Equivalent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43675" y="4011066"/>
            <a:ext cx="5250656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75" b="0" i="0" u="none">
                <a:solidFill>
                  <a:srgbClr val="38BDF8"/>
                </a:solidFill>
                <a:latin typeface="Space Grotesk SemiBold"/>
              </a:rPr>
              <a:t>Best Practices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0100" y="2650182"/>
            <a:ext cx="3174950" cy="1735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6"/>
              </a:lnSpc>
            </a:pPr>
            <a:r>
              <a:rPr sz="1012" b="0" i="0" u="none">
                <a:solidFill>
                  <a:srgbClr val="CBD5E1"/>
                </a:solidFill>
                <a:latin typeface="Inter"/>
              </a:rPr>
              <a:t>1. constructor()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0100" y="2880866"/>
            <a:ext cx="3174950" cy="1735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6"/>
              </a:lnSpc>
            </a:pPr>
            <a:r>
              <a:rPr sz="1012" b="0" i="0" u="none">
                <a:solidFill>
                  <a:srgbClr val="CBD5E1"/>
                </a:solidFill>
                <a:latin typeface="Inter"/>
              </a:rPr>
              <a:t>2. getDerivedStateFromProps()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0100" y="3111549"/>
            <a:ext cx="3174950" cy="1735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6"/>
              </a:lnSpc>
            </a:pPr>
            <a:r>
              <a:rPr sz="1012" b="0" i="0" u="none">
                <a:solidFill>
                  <a:srgbClr val="CBD5E1"/>
                </a:solidFill>
                <a:latin typeface="Inter"/>
              </a:rPr>
              <a:t>3. render()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0100" y="3342233"/>
            <a:ext cx="3174950" cy="1735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6"/>
              </a:lnSpc>
            </a:pPr>
            <a:r>
              <a:rPr sz="1012" b="0" i="0" u="none">
                <a:solidFill>
                  <a:srgbClr val="CBD5E1"/>
                </a:solidFill>
                <a:latin typeface="Inter"/>
              </a:rPr>
              <a:t>4. componentDidMount() 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84650" y="2650182"/>
            <a:ext cx="3174950" cy="1735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6"/>
              </a:lnSpc>
            </a:pPr>
            <a:r>
              <a:rPr sz="1012" b="0" i="0" u="none">
                <a:solidFill>
                  <a:srgbClr val="CBD5E1"/>
                </a:solidFill>
                <a:latin typeface="Inter"/>
              </a:rPr>
              <a:t>1. getDerivedStateFromProps()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84650" y="2880866"/>
            <a:ext cx="3174950" cy="1735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6"/>
              </a:lnSpc>
            </a:pPr>
            <a:r>
              <a:rPr sz="1012" b="0" i="0" u="none">
                <a:solidFill>
                  <a:srgbClr val="CBD5E1"/>
                </a:solidFill>
                <a:latin typeface="Inter"/>
              </a:rPr>
              <a:t>2. shouldComponentUpdate()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84650" y="3111549"/>
            <a:ext cx="3174950" cy="1735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6"/>
              </a:lnSpc>
            </a:pPr>
            <a:r>
              <a:rPr sz="1012" b="0" i="0" u="none">
                <a:solidFill>
                  <a:srgbClr val="CBD5E1"/>
                </a:solidFill>
                <a:latin typeface="Inter"/>
              </a:rPr>
              <a:t>3. render()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84650" y="3342233"/>
            <a:ext cx="3174950" cy="1735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6"/>
              </a:lnSpc>
            </a:pPr>
            <a:r>
              <a:rPr sz="1012" b="0" i="0" u="none">
                <a:solidFill>
                  <a:srgbClr val="CBD5E1"/>
                </a:solidFill>
                <a:latin typeface="Inter"/>
              </a:rPr>
              <a:t>4. componentDidUpdate() 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69200" y="2650182"/>
            <a:ext cx="3175099" cy="1735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6"/>
              </a:lnSpc>
            </a:pPr>
            <a:r>
              <a:rPr sz="1012" b="0" i="0" u="none">
                <a:solidFill>
                  <a:srgbClr val="CBD5E1"/>
                </a:solidFill>
                <a:latin typeface="Inter"/>
              </a:rPr>
              <a:t>1. componentWillUnmount() 🗑️</a:t>
            </a:r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7700" y="4015829"/>
            <a:ext cx="161925" cy="161925"/>
          </a:xfrm>
          <a:prstGeom prst="rect">
            <a:avLst/>
          </a:prstGeom>
        </p:spPr>
      </p:pic>
      <p:graphicFrame>
        <p:nvGraphicFramePr>
          <p:cNvPr id="38" name="Table 37"/>
          <p:cNvGraphicFramePr>
            <a:graphicFrameLocks noGrp="1"/>
          </p:cNvGraphicFramePr>
          <p:nvPr/>
        </p:nvGraphicFramePr>
        <p:xfrm>
          <a:off x="657225" y="4344441"/>
          <a:ext cx="5181599" cy="121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56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259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8BDF8"/>
                          </a:solidFill>
                          <a:latin typeface="Space Grotesk SemiBold"/>
                        </a:rPr>
                        <a:t>Class Method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8BDF8"/>
                          </a:solidFill>
                          <a:latin typeface="Space Grotesk SemiBold"/>
                        </a:rPr>
                        <a:t>Functional Hook Equivalent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CBD5E1"/>
                          </a:solidFill>
                          <a:latin typeface="Inter"/>
                        </a:rPr>
                        <a:t>componentDidMount()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31C3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CBD5E1"/>
                          </a:solidFill>
                          <a:latin typeface="Inter"/>
                        </a:rPr>
                        <a:t>useEffect(() =&gt; {}, [])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31C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CBD5E1"/>
                          </a:solidFill>
                          <a:latin typeface="Inter"/>
                        </a:rPr>
                        <a:t>componentDidUpdate()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31C3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CBD5E1"/>
                          </a:solidFill>
                          <a:latin typeface="Inter"/>
                        </a:rPr>
                        <a:t>useEffect(() =&gt; {}, [deps])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31C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CBD5E1"/>
                          </a:solidFill>
                          <a:latin typeface="Inter"/>
                        </a:rPr>
                        <a:t>componentWillUnmount()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31C3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CBD5E1"/>
                          </a:solidFill>
                          <a:latin typeface="Inter"/>
                        </a:rPr>
                        <a:t>useEffect(() =&gt; { return () =&gt; {} }, [])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31C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43650" y="4034879"/>
            <a:ext cx="123825" cy="161925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6496050" y="4334916"/>
            <a:ext cx="5048250" cy="1735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6"/>
              </a:lnSpc>
            </a:pPr>
            <a:r>
              <a:rPr sz="1012" b="0" i="0" u="none">
                <a:solidFill>
                  <a:srgbClr val="CBD5E1"/>
                </a:solidFill>
                <a:latin typeface="Inter"/>
              </a:rPr>
              <a:t>Understand lifecycle methods before switching to Hooks.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96050" y="4565600"/>
            <a:ext cx="5048250" cy="1735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6"/>
              </a:lnSpc>
            </a:pPr>
            <a:r>
              <a:rPr sz="1012" b="0" i="0" u="none">
                <a:solidFill>
                  <a:srgbClr val="CBD5E1"/>
                </a:solidFill>
                <a:latin typeface="Inter"/>
              </a:rPr>
              <a:t>Use lifecycle methods only in Class Components.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96050" y="4796283"/>
            <a:ext cx="5048250" cy="1735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6"/>
              </a:lnSpc>
            </a:pPr>
            <a:r>
              <a:rPr sz="1012" b="0" i="0" u="none">
                <a:solidFill>
                  <a:srgbClr val="CBD5E1"/>
                </a:solidFill>
                <a:latin typeface="Inter"/>
              </a:rPr>
              <a:t>Prefer Functional Components + Hooks for all new modern projects.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7700" y="2650182"/>
            <a:ext cx="857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1200" b="0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7700" y="2880866"/>
            <a:ext cx="857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1200" b="0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7700" y="3111549"/>
            <a:ext cx="857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1200" b="0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7700" y="3342233"/>
            <a:ext cx="857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1200" b="0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432250" y="2650182"/>
            <a:ext cx="857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1200" b="0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432250" y="2880866"/>
            <a:ext cx="857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1200" b="0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432250" y="3111549"/>
            <a:ext cx="857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1200" b="0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432250" y="3342233"/>
            <a:ext cx="857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1200" b="0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16800" y="2650182"/>
            <a:ext cx="857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1200" b="0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343650" y="4334916"/>
            <a:ext cx="857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1200" b="0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43650" y="4565600"/>
            <a:ext cx="857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1200" b="0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43650" y="4796283"/>
            <a:ext cx="857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1200" b="0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57225" y="4949279"/>
            <a:ext cx="1955601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2612826" y="4949279"/>
            <a:ext cx="3225998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657225" y="5254079"/>
            <a:ext cx="1955601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2612826" y="5254079"/>
            <a:ext cx="3225998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10875" y="433387"/>
            <a:ext cx="895350" cy="2571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775" y="1038225"/>
            <a:ext cx="5524500" cy="172759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1725" y="1038225"/>
            <a:ext cx="5524500" cy="1727596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775" y="2861071"/>
            <a:ext cx="4076700" cy="22479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95825" y="2861071"/>
            <a:ext cx="3248025" cy="22479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77200" y="2861071"/>
            <a:ext cx="3695700" cy="22479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85775" y="390525"/>
            <a:ext cx="272415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50" b="1" i="0" u="none">
                <a:solidFill>
                  <a:srgbClr val="F8FAFC"/>
                </a:solidFill>
                <a:latin typeface="Inter"/>
              </a:rPr>
              <a:t>14. Handling Events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6775" y="1200150"/>
            <a:ext cx="5230653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75" b="0" i="0" u="none">
                <a:solidFill>
                  <a:srgbClr val="38BDF8"/>
                </a:solidFill>
                <a:latin typeface="Space Grotesk SemiBold"/>
              </a:rPr>
              <a:t>What are Events &amp; Key Points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0825" y="1219200"/>
            <a:ext cx="5190648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75" b="0" i="0" u="none">
                <a:solidFill>
                  <a:srgbClr val="38BDF8"/>
                </a:solidFill>
                <a:latin typeface="Space Grotesk SemiBold"/>
              </a:rPr>
              <a:t>Common Events List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700" y="3042046"/>
            <a:ext cx="3940492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75" b="0" i="0" u="none">
                <a:solidFill>
                  <a:srgbClr val="38BDF8"/>
                </a:solidFill>
                <a:latin typeface="Space Grotesk SemiBold"/>
              </a:rPr>
              <a:t>1. Button Click 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57750" y="3042046"/>
            <a:ext cx="3070383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75" b="0" i="0" u="none">
                <a:solidFill>
                  <a:srgbClr val="38BDF8"/>
                </a:solidFill>
                <a:latin typeface="Space Grotesk SemiBold"/>
              </a:rPr>
              <a:t>2. Prevent Default 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39125" y="3042046"/>
            <a:ext cx="3540442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75" b="0" i="0" u="none">
                <a:solidFill>
                  <a:srgbClr val="38BDF8"/>
                </a:solidFill>
                <a:latin typeface="Space Grotesk SemiBold"/>
              </a:rPr>
              <a:t>3. Passing Arguments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7700" y="1223962"/>
            <a:ext cx="142875" cy="16192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00100" y="1524000"/>
            <a:ext cx="5048250" cy="1735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6"/>
              </a:lnSpc>
            </a:pPr>
            <a:r>
              <a:rPr sz="1012" b="0" i="0" u="none">
                <a:solidFill>
                  <a:srgbClr val="CBD5E1"/>
                </a:solidFill>
                <a:latin typeface="Inter"/>
              </a:rPr>
              <a:t>Events are browser actions (e.g., click, change, submit).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100" y="1754683"/>
            <a:ext cx="5048250" cy="1735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6"/>
              </a:lnSpc>
            </a:pPr>
            <a:r>
              <a:rPr sz="1012" b="0" i="0" u="none">
                <a:solidFill>
                  <a:srgbClr val="CBD5E1"/>
                </a:solidFill>
                <a:latin typeface="Inter"/>
              </a:rPr>
              <a:t>React uses </a:t>
            </a:r>
            <a:r>
              <a:rPr sz="1012" b="1" i="0" u="none">
                <a:solidFill>
                  <a:srgbClr val="CBD5E1"/>
                </a:solidFill>
                <a:latin typeface="Inter"/>
              </a:rPr>
              <a:t>camelCase</a:t>
            </a:r>
            <a:r>
              <a:rPr sz="1012" b="0" i="0" u="none">
                <a:solidFill>
                  <a:srgbClr val="CBD5E1"/>
                </a:solidFill>
                <a:latin typeface="Inter"/>
              </a:rPr>
              <a:t> naming (onClick, onChange).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100" y="1985367"/>
            <a:ext cx="5048250" cy="1735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6"/>
              </a:lnSpc>
            </a:pPr>
            <a:r>
              <a:rPr sz="1012" b="0" i="0" u="none">
                <a:solidFill>
                  <a:srgbClr val="CBD5E1"/>
                </a:solidFill>
                <a:latin typeface="Inter"/>
              </a:rPr>
              <a:t>Pass a </a:t>
            </a:r>
            <a:r>
              <a:rPr sz="1012" b="1" i="0" u="none">
                <a:solidFill>
                  <a:srgbClr val="CBD5E1"/>
                </a:solidFill>
                <a:latin typeface="Inter"/>
              </a:rPr>
              <a:t>function reference</a:t>
            </a:r>
            <a:r>
              <a:rPr sz="1012" b="0" i="0" u="none">
                <a:solidFill>
                  <a:srgbClr val="CBD5E1"/>
                </a:solidFill>
                <a:latin typeface="Inter"/>
              </a:rPr>
              <a:t>, not a string or direct execution.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100" y="2216050"/>
            <a:ext cx="5048250" cy="1735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6"/>
              </a:lnSpc>
            </a:pPr>
            <a:r>
              <a:rPr sz="1012" b="0" i="0" u="none">
                <a:solidFill>
                  <a:srgbClr val="CBD5E1"/>
                </a:solidFill>
                <a:latin typeface="Inter"/>
              </a:rPr>
              <a:t>Use e.preventDefault() to prevent page reloads.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43650" y="1243012"/>
            <a:ext cx="180975" cy="161925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71525" y="3489721"/>
            <a:ext cx="3810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12"/>
              </a:lnSpc>
            </a:pPr>
            <a:r>
              <a:rPr sz="937" b="0" i="0" u="none">
                <a:solidFill>
                  <a:srgbClr val="C678DD"/>
                </a:solidFill>
                <a:latin typeface="Fira Code"/>
              </a:rPr>
              <a:t>const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52725" y="3489721"/>
            <a:ext cx="6096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12"/>
              </a:lnSpc>
            </a:pPr>
            <a:r>
              <a:rPr sz="937" b="0" i="0" u="none">
                <a:solidFill>
                  <a:srgbClr val="61AFEF"/>
                </a:solidFill>
                <a:latin typeface="Fira Code"/>
              </a:rPr>
              <a:t>useState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1525" y="3656409"/>
            <a:ext cx="3810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12"/>
              </a:lnSpc>
            </a:pPr>
            <a:r>
              <a:rPr sz="937" b="0" i="0" u="none">
                <a:solidFill>
                  <a:srgbClr val="C678DD"/>
                </a:solidFill>
                <a:latin typeface="Fira Code"/>
              </a:rPr>
              <a:t>const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28725" y="3656409"/>
            <a:ext cx="8382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12"/>
              </a:lnSpc>
            </a:pPr>
            <a:r>
              <a:rPr sz="937" b="0" i="0" u="none">
                <a:solidFill>
                  <a:srgbClr val="61AFEF"/>
                </a:solidFill>
                <a:latin typeface="Fira Code"/>
              </a:rPr>
              <a:t>handleClick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52725" y="3656409"/>
            <a:ext cx="6096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12"/>
              </a:lnSpc>
            </a:pPr>
            <a:r>
              <a:rPr sz="937" b="0" i="0" u="none">
                <a:solidFill>
                  <a:srgbClr val="61AFEF"/>
                </a:solidFill>
                <a:latin typeface="Fira Code"/>
              </a:rPr>
              <a:t>setCount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1525" y="3989784"/>
            <a:ext cx="4572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12"/>
              </a:lnSpc>
            </a:pPr>
            <a:r>
              <a:rPr sz="937" b="0" i="0" u="none">
                <a:solidFill>
                  <a:srgbClr val="C678DD"/>
                </a:solidFill>
                <a:latin typeface="Fira Code"/>
              </a:rPr>
              <a:t>return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0125" y="4156471"/>
            <a:ext cx="5334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12"/>
              </a:lnSpc>
            </a:pPr>
            <a:r>
              <a:rPr sz="937" b="0" i="0" u="none">
                <a:solidFill>
                  <a:srgbClr val="D19A66"/>
                </a:solidFill>
                <a:latin typeface="Fira Code"/>
              </a:rPr>
              <a:t>onClick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00325" y="4156471"/>
            <a:ext cx="762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12"/>
              </a:lnSpc>
            </a:pPr>
            <a:r>
              <a:rPr sz="937" b="0" i="0" u="none">
                <a:solidFill>
                  <a:srgbClr val="E06C75"/>
                </a:solidFill>
                <a:latin typeface="Fira Code"/>
              </a:rPr>
              <a:t>&gt;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81575" y="3489721"/>
            <a:ext cx="3810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12"/>
              </a:lnSpc>
            </a:pPr>
            <a:r>
              <a:rPr sz="937" b="0" i="0" u="none">
                <a:solidFill>
                  <a:srgbClr val="C678DD"/>
                </a:solidFill>
                <a:latin typeface="Fira Code"/>
              </a:rPr>
              <a:t>const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38775" y="3489721"/>
            <a:ext cx="9144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12"/>
              </a:lnSpc>
            </a:pPr>
            <a:r>
              <a:rPr sz="937" b="0" i="0" u="none">
                <a:solidFill>
                  <a:srgbClr val="61AFEF"/>
                </a:solidFill>
                <a:latin typeface="Fira Code"/>
              </a:rPr>
              <a:t>handleSubmit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86375" y="3656409"/>
            <a:ext cx="10668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12"/>
              </a:lnSpc>
            </a:pPr>
            <a:r>
              <a:rPr sz="937" b="0" i="0" u="none">
                <a:solidFill>
                  <a:srgbClr val="61AFEF"/>
                </a:solidFill>
                <a:latin typeface="Fira Code"/>
              </a:rPr>
              <a:t>preventDefault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57975" y="3656409"/>
            <a:ext cx="10001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12"/>
              </a:lnSpc>
            </a:pPr>
            <a:r>
              <a:rPr sz="937" b="0" i="1" u="none">
                <a:solidFill>
                  <a:srgbClr val="64748B"/>
                </a:solidFill>
                <a:latin typeface="Fira Code"/>
              </a:rPr>
              <a:t>// Stops reload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33975" y="3823096"/>
            <a:ext cx="3810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12"/>
              </a:lnSpc>
            </a:pPr>
            <a:r>
              <a:rPr sz="937" b="0" i="0" u="none">
                <a:solidFill>
                  <a:srgbClr val="61AFEF"/>
                </a:solidFill>
                <a:latin typeface="Fira Code"/>
              </a:rPr>
              <a:t>alert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591175" y="3823096"/>
            <a:ext cx="9144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12"/>
              </a:lnSpc>
            </a:pPr>
            <a:r>
              <a:rPr sz="937" b="0" i="0" u="none">
                <a:solidFill>
                  <a:srgbClr val="98C379"/>
                </a:solidFill>
                <a:latin typeface="Fira Code"/>
              </a:rPr>
              <a:t>"Submitted!"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81575" y="4156471"/>
            <a:ext cx="4572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12"/>
              </a:lnSpc>
            </a:pPr>
            <a:r>
              <a:rPr sz="937" b="0" i="0" u="none">
                <a:solidFill>
                  <a:srgbClr val="C678DD"/>
                </a:solidFill>
                <a:latin typeface="Fira Code"/>
              </a:rPr>
              <a:t>return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210175" y="4323159"/>
            <a:ext cx="6096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12"/>
              </a:lnSpc>
            </a:pPr>
            <a:r>
              <a:rPr sz="937" b="0" i="0" u="none">
                <a:solidFill>
                  <a:srgbClr val="D19A66"/>
                </a:solidFill>
                <a:latin typeface="Fira Code"/>
              </a:rPr>
              <a:t>onSubmit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62775" y="4323159"/>
            <a:ext cx="762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12"/>
              </a:lnSpc>
            </a:pPr>
            <a:r>
              <a:rPr sz="937" b="0" i="0" u="none">
                <a:solidFill>
                  <a:srgbClr val="E06C75"/>
                </a:solidFill>
                <a:latin typeface="Fira Code"/>
              </a:rPr>
              <a:t>&gt;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62950" y="3489721"/>
            <a:ext cx="3810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12"/>
              </a:lnSpc>
            </a:pPr>
            <a:r>
              <a:rPr sz="937" b="0" i="0" u="none">
                <a:solidFill>
                  <a:srgbClr val="C678DD"/>
                </a:solidFill>
                <a:latin typeface="Fira Code"/>
              </a:rPr>
              <a:t>const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20150" y="3489721"/>
            <a:ext cx="8382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12"/>
              </a:lnSpc>
            </a:pPr>
            <a:r>
              <a:rPr sz="937" b="0" i="0" u="none">
                <a:solidFill>
                  <a:srgbClr val="61AFEF"/>
                </a:solidFill>
                <a:latin typeface="Fira Code"/>
              </a:rPr>
              <a:t>handleClick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15350" y="3656409"/>
            <a:ext cx="3810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12"/>
              </a:lnSpc>
            </a:pPr>
            <a:r>
              <a:rPr sz="937" b="0" i="0" u="none">
                <a:solidFill>
                  <a:srgbClr val="61AFEF"/>
                </a:solidFill>
                <a:latin typeface="Fira Code"/>
              </a:rPr>
              <a:t>alert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72550" y="3656409"/>
            <a:ext cx="6096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12"/>
              </a:lnSpc>
            </a:pPr>
            <a:r>
              <a:rPr sz="937" b="0" i="0" u="none">
                <a:solidFill>
                  <a:srgbClr val="98C379"/>
                </a:solidFill>
                <a:latin typeface="Fira Code"/>
              </a:rPr>
              <a:t>"Hello "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62950" y="3989784"/>
            <a:ext cx="4572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12"/>
              </a:lnSpc>
            </a:pPr>
            <a:r>
              <a:rPr sz="937" b="0" i="0" u="none">
                <a:solidFill>
                  <a:srgbClr val="C678DD"/>
                </a:solidFill>
                <a:latin typeface="Fira Code"/>
              </a:rPr>
              <a:t>return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91550" y="4156471"/>
            <a:ext cx="5334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12"/>
              </a:lnSpc>
            </a:pPr>
            <a:r>
              <a:rPr sz="937" b="0" i="0" u="none">
                <a:solidFill>
                  <a:srgbClr val="D19A66"/>
                </a:solidFill>
                <a:latin typeface="Fira Code"/>
              </a:rPr>
              <a:t>onClick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734550" y="4156471"/>
            <a:ext cx="8382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12"/>
              </a:lnSpc>
            </a:pPr>
            <a:r>
              <a:rPr sz="937" b="0" i="0" u="none">
                <a:solidFill>
                  <a:srgbClr val="61AFEF"/>
                </a:solidFill>
                <a:latin typeface="Fira Code"/>
              </a:rPr>
              <a:t>handleClick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648950" y="4156471"/>
            <a:ext cx="6096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12"/>
              </a:lnSpc>
            </a:pPr>
            <a:r>
              <a:rPr sz="937" b="0" i="0" u="none">
                <a:solidFill>
                  <a:srgbClr val="98C379"/>
                </a:solidFill>
                <a:latin typeface="Fira Code"/>
              </a:rPr>
              <a:t>"Roshan"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410950" y="4156471"/>
            <a:ext cx="762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12"/>
              </a:lnSpc>
            </a:pPr>
            <a:r>
              <a:rPr sz="937" b="0" i="0" u="none">
                <a:solidFill>
                  <a:srgbClr val="E06C75"/>
                </a:solidFill>
                <a:latin typeface="Fira Code"/>
              </a:rPr>
              <a:t>&gt;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7700" y="1524000"/>
            <a:ext cx="857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1200" b="0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7700" y="1754683"/>
            <a:ext cx="857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1200" b="0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7700" y="1985367"/>
            <a:ext cx="857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1200" b="0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7700" y="2216050"/>
            <a:ext cx="857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1200" b="0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43650" y="1504950"/>
            <a:ext cx="2514600" cy="1985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0" i="0" u="none">
                <a:solidFill>
                  <a:srgbClr val="CBD5E1"/>
                </a:solidFill>
                <a:latin typeface="Inter"/>
              </a:rPr>
              <a:t>1. onClick - Clicked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343650" y="1779686"/>
            <a:ext cx="2514600" cy="1985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0" i="0" u="none">
                <a:solidFill>
                  <a:srgbClr val="CBD5E1"/>
                </a:solidFill>
                <a:latin typeface="Inter"/>
              </a:rPr>
              <a:t>2. onChange - Input changed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43650" y="2054423"/>
            <a:ext cx="2514600" cy="1985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0" i="0" u="none">
                <a:solidFill>
                  <a:srgbClr val="CBD5E1"/>
                </a:solidFill>
                <a:latin typeface="Inter"/>
              </a:rPr>
              <a:t>3. onSubmit - Form submit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43650" y="2329160"/>
            <a:ext cx="2514600" cy="1985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0" i="0" u="none">
                <a:solidFill>
                  <a:srgbClr val="CBD5E1"/>
                </a:solidFill>
                <a:latin typeface="Inter"/>
              </a:rPr>
              <a:t>4. onMouseEnter - Hover in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029700" y="1504950"/>
            <a:ext cx="2514600" cy="1985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0" i="0" u="none">
                <a:solidFill>
                  <a:srgbClr val="CBD5E1"/>
                </a:solidFill>
                <a:latin typeface="Inter"/>
              </a:rPr>
              <a:t>5. onMouseLeave - Hover out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029700" y="1779686"/>
            <a:ext cx="2514600" cy="1985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0" i="0" u="none">
                <a:solidFill>
                  <a:srgbClr val="CBD5E1"/>
                </a:solidFill>
                <a:latin typeface="Inter"/>
              </a:rPr>
              <a:t>6. onKeyDown - Key pressed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029700" y="2054423"/>
            <a:ext cx="2514600" cy="1985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0" i="0" u="none">
                <a:solidFill>
                  <a:srgbClr val="CBD5E1"/>
                </a:solidFill>
                <a:latin typeface="Inter"/>
              </a:rPr>
              <a:t>7. onFocus - Element focused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029700" y="2329160"/>
            <a:ext cx="2514600" cy="1985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0" i="0" u="none">
                <a:solidFill>
                  <a:srgbClr val="CBD5E1"/>
                </a:solidFill>
                <a:latin typeface="Inter"/>
              </a:rPr>
              <a:t>8. onBlur - Focus lost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10875" y="433387"/>
            <a:ext cx="895350" cy="2571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775" y="3246090"/>
            <a:ext cx="11220450" cy="18478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775" y="1326802"/>
            <a:ext cx="3629025" cy="1766887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48150" y="1326802"/>
            <a:ext cx="3695700" cy="1766887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77200" y="1326802"/>
            <a:ext cx="3629025" cy="176688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85775" y="390525"/>
            <a:ext cx="3552825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50" b="1" i="0" u="none">
                <a:solidFill>
                  <a:srgbClr val="F8FAFC"/>
                </a:solidFill>
                <a:latin typeface="Inter"/>
              </a:rPr>
              <a:t>15. Conditional Rendering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5775" y="1038225"/>
            <a:ext cx="11220450" cy="1933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0" i="0" u="none">
                <a:solidFill>
                  <a:srgbClr val="CBD5E1"/>
                </a:solidFill>
                <a:latin typeface="Inter"/>
              </a:rPr>
              <a:t>Render different UI elements based on state, props, or conditions (if/else, ternary, &amp;&amp;, !, switch):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95300" y="3255615"/>
          <a:ext cx="11201398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08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07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190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407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8BDF8"/>
                          </a:solidFill>
                          <a:latin typeface="Space Grotesk SemiBold"/>
                        </a:rPr>
                        <a:t>Method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8BDF8"/>
                          </a:solidFill>
                          <a:latin typeface="Space Grotesk SemiBold"/>
                        </a:rPr>
                        <a:t>Use Case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8BDF8"/>
                          </a:solidFill>
                          <a:latin typeface="Space Grotesk SemiBold"/>
                        </a:rPr>
                        <a:t>Syntax Example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8BDF8"/>
                          </a:solidFill>
                          <a:latin typeface="Space Grotesk SemiBold"/>
                        </a:rPr>
                        <a:t>Best For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CBD5E1"/>
                          </a:solidFill>
                          <a:latin typeface="Inter"/>
                        </a:rPr>
                        <a:t>if / else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31C3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CBD5E1"/>
                          </a:solidFill>
                          <a:latin typeface="Inter"/>
                        </a:rPr>
                        <a:t>Complex block logic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31C3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CBD5E1"/>
                          </a:solidFill>
                          <a:latin typeface="Inter"/>
                        </a:rPr>
                        <a:t>if (cond) { return A } else { return B }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31C3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CBD5E1"/>
                          </a:solidFill>
                          <a:latin typeface="Inter"/>
                        </a:rPr>
                        <a:t>Large structural blocks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31C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CBD5E1"/>
                          </a:solidFill>
                          <a:latin typeface="Inter"/>
                        </a:rPr>
                        <a:t>Ternary (? :)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31C3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CBD5E1"/>
                          </a:solidFill>
                          <a:latin typeface="Inter"/>
                        </a:rPr>
                        <a:t>Simple true/false UI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31C3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CBD5E1"/>
                          </a:solidFill>
                          <a:latin typeface="Inter"/>
                        </a:rPr>
                        <a:t>cond ?  : 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31C3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CBD5E1"/>
                          </a:solidFill>
                          <a:latin typeface="Inter"/>
                        </a:rPr>
                        <a:t>Inline short UI toggles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31C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CBD5E1"/>
                          </a:solidFill>
                          <a:latin typeface="Inter"/>
                        </a:rPr>
                        <a:t>&amp;&amp; Operator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31C3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CBD5E1"/>
                          </a:solidFill>
                          <a:latin typeface="Inter"/>
                        </a:rPr>
                        <a:t>Render only if true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31C3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CBD5E1"/>
                          </a:solidFill>
                          <a:latin typeface="Inter"/>
                        </a:rPr>
                        <a:t>cond &amp;&amp; 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31C3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CBD5E1"/>
                          </a:solidFill>
                          <a:latin typeface="Inter"/>
                        </a:rPr>
                        <a:t>Single optional elements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31C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CBD5E1"/>
                          </a:solidFill>
                          <a:latin typeface="Inter"/>
                        </a:rPr>
                        <a:t>! Operator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31C3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CBD5E1"/>
                          </a:solidFill>
                          <a:latin typeface="Inter"/>
                        </a:rPr>
                        <a:t>Render opposite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31C3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CBD5E1"/>
                          </a:solidFill>
                          <a:latin typeface="Inter"/>
                        </a:rPr>
                        <a:t>!error &amp;&amp; 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31C3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CBD5E1"/>
                          </a:solidFill>
                          <a:latin typeface="Inter"/>
                        </a:rPr>
                        <a:t>Negative conditions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31C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CBD5E1"/>
                          </a:solidFill>
                          <a:latin typeface="Inter"/>
                        </a:rPr>
                        <a:t>switch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31C3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CBD5E1"/>
                          </a:solidFill>
                          <a:latin typeface="Inter"/>
                        </a:rPr>
                        <a:t>Multiple fixed cases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31C3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CBD5E1"/>
                          </a:solidFill>
                          <a:latin typeface="Inter"/>
                        </a:rPr>
                        <a:t>switch(type) { case 'a': ... }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31C3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CBD5E1"/>
                          </a:solidFill>
                          <a:latin typeface="Inter"/>
                        </a:rPr>
                        <a:t>Multi-option matching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31C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47700" y="1488727"/>
            <a:ext cx="3470433" cy="2476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75" b="0" i="0" u="none">
                <a:solidFill>
                  <a:srgbClr val="38BDF8"/>
                </a:solidFill>
                <a:latin typeface="Space Grotesk SemiBold"/>
              </a:rPr>
              <a:t>1. if / else Statement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10075" y="1507777"/>
            <a:ext cx="3540442" cy="2476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75" b="0" i="0" u="none">
                <a:solidFill>
                  <a:srgbClr val="38BDF8"/>
                </a:solidFill>
                <a:latin typeface="Space Grotesk SemiBold"/>
              </a:rPr>
              <a:t>2. Ternary Operator (? :)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39125" y="1507777"/>
            <a:ext cx="3470433" cy="2476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75" b="0" i="0" u="none">
                <a:solidFill>
                  <a:srgbClr val="38BDF8"/>
                </a:solidFill>
                <a:latin typeface="Space Grotesk SemiBold"/>
              </a:rPr>
              <a:t>3. Logical AND (&amp;&amp;)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1525" y="1974502"/>
            <a:ext cx="1524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12"/>
              </a:lnSpc>
            </a:pPr>
            <a:r>
              <a:rPr sz="937" b="0" i="0" u="none">
                <a:solidFill>
                  <a:srgbClr val="C678DD"/>
                </a:solidFill>
                <a:latin typeface="Fira Code"/>
              </a:rPr>
              <a:t>if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925" y="2141190"/>
            <a:ext cx="4572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12"/>
              </a:lnSpc>
            </a:pPr>
            <a:r>
              <a:rPr sz="937" b="0" i="0" u="none">
                <a:solidFill>
                  <a:srgbClr val="C678DD"/>
                </a:solidFill>
                <a:latin typeface="Fira Code"/>
              </a:rPr>
              <a:t>return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925" y="2307877"/>
            <a:ext cx="3048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12"/>
              </a:lnSpc>
            </a:pPr>
            <a:r>
              <a:rPr sz="937" b="0" i="0" u="none">
                <a:solidFill>
                  <a:srgbClr val="C678DD"/>
                </a:solidFill>
                <a:latin typeface="Fira Code"/>
              </a:rPr>
              <a:t>else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925" y="2474565"/>
            <a:ext cx="4572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12"/>
              </a:lnSpc>
            </a:pPr>
            <a:r>
              <a:rPr sz="937" b="0" i="0" u="none">
                <a:solidFill>
                  <a:srgbClr val="C678DD"/>
                </a:solidFill>
                <a:latin typeface="Fira Code"/>
              </a:rPr>
              <a:t>return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00700" y="2160240"/>
            <a:ext cx="8382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12"/>
              </a:lnSpc>
            </a:pPr>
            <a:r>
              <a:rPr sz="937" b="0" i="0" u="none">
                <a:solidFill>
                  <a:srgbClr val="98C379"/>
                </a:solidFill>
                <a:latin typeface="Fira Code"/>
              </a:rPr>
              <a:t>"🟢 Online"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67500" y="2160240"/>
            <a:ext cx="9144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12"/>
              </a:lnSpc>
            </a:pPr>
            <a:r>
              <a:rPr sz="937" b="0" i="0" u="none">
                <a:solidFill>
                  <a:srgbClr val="98C379"/>
                </a:solidFill>
                <a:latin typeface="Fira Code"/>
              </a:rPr>
              <a:t>"🔴 Offline"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95300" y="3860452"/>
            <a:ext cx="1890861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2386161" y="3860452"/>
            <a:ext cx="2150715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536876" y="3860452"/>
            <a:ext cx="4619029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155906" y="3860452"/>
            <a:ext cx="2540793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95300" y="4165252"/>
            <a:ext cx="1890861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2386161" y="4165252"/>
            <a:ext cx="2150715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536876" y="4165252"/>
            <a:ext cx="4619029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155906" y="4165252"/>
            <a:ext cx="2540793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95300" y="4470052"/>
            <a:ext cx="1890861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2386161" y="4470052"/>
            <a:ext cx="2150715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536876" y="4470052"/>
            <a:ext cx="4619029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155906" y="4470052"/>
            <a:ext cx="2540793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95300" y="4774852"/>
            <a:ext cx="1890861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2386161" y="4774852"/>
            <a:ext cx="2150715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536876" y="4774852"/>
            <a:ext cx="4619029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9155906" y="4774852"/>
            <a:ext cx="2540793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10875" y="433387"/>
            <a:ext cx="895350" cy="2571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775" y="1038225"/>
            <a:ext cx="5524500" cy="241458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1725" y="1038225"/>
            <a:ext cx="5524500" cy="2414587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775" y="3548062"/>
            <a:ext cx="5524500" cy="1905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81725" y="3548062"/>
            <a:ext cx="5524500" cy="19050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7700" y="4052887"/>
            <a:ext cx="5200650" cy="12382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85775" y="390525"/>
            <a:ext cx="2466975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50" b="1" i="0" u="none">
                <a:solidFill>
                  <a:srgbClr val="F8FAFC"/>
                </a:solidFill>
                <a:latin typeface="Inter"/>
              </a:rPr>
              <a:t>16. Lists and Keys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5825" y="1219200"/>
            <a:ext cx="5210651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75" b="0" i="0" u="none">
                <a:solidFill>
                  <a:srgbClr val="38BDF8"/>
                </a:solidFill>
                <a:latin typeface="Space Grotesk SemiBold"/>
              </a:rPr>
              <a:t>What are Lists &amp; Why Keys?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19875" y="1219200"/>
            <a:ext cx="5170646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75" b="0" i="0" u="none">
                <a:solidFill>
                  <a:srgbClr val="38BDF8"/>
                </a:solidFill>
                <a:latin typeface="Space Grotesk SemiBold"/>
              </a:rPr>
              <a:t>Rendering List Example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5825" y="3709987"/>
            <a:ext cx="5210651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75" b="0" i="0" u="none">
                <a:solidFill>
                  <a:srgbClr val="38BDF8"/>
                </a:solidFill>
                <a:latin typeface="Space Grotesk SemiBold"/>
              </a:rPr>
              <a:t>Useful Array Methods in React Lists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2725" y="3729037"/>
            <a:ext cx="5230653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75" b="0" i="0" u="none">
                <a:solidFill>
                  <a:srgbClr val="38BDF8"/>
                </a:solidFill>
                <a:latin typeface="Space Grotesk SemiBold"/>
              </a:rPr>
              <a:t>Do's and Don'ts for Keys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7700" y="1243012"/>
            <a:ext cx="161925" cy="16192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00100" y="1543050"/>
            <a:ext cx="5048250" cy="1735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6"/>
              </a:lnSpc>
            </a:pPr>
            <a:r>
              <a:rPr sz="1012" b="0" i="0" u="none">
                <a:solidFill>
                  <a:srgbClr val="CBD5E1"/>
                </a:solidFill>
                <a:latin typeface="Inter"/>
              </a:rPr>
              <a:t>Render lists using JS array map() function.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100" y="1773733"/>
            <a:ext cx="5048250" cy="1735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6"/>
              </a:lnSpc>
            </a:pPr>
            <a:r>
              <a:rPr sz="1012" b="1" i="0" u="none">
                <a:solidFill>
                  <a:srgbClr val="CBD5E1"/>
                </a:solidFill>
                <a:latin typeface="Inter"/>
              </a:rPr>
              <a:t>Key Prop:</a:t>
            </a:r>
            <a:r>
              <a:rPr sz="1012" b="0" i="0" u="none">
                <a:solidFill>
                  <a:srgbClr val="CBD5E1"/>
                </a:solidFill>
                <a:latin typeface="Inter"/>
              </a:rPr>
              <a:t> Unique identifier required for each list item.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100" y="2004417"/>
            <a:ext cx="5048250" cy="3470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6"/>
              </a:lnSpc>
            </a:pPr>
            <a:r>
              <a:rPr sz="1012" b="1" i="0" u="none">
                <a:solidFill>
                  <a:srgbClr val="CBD5E1"/>
                </a:solidFill>
                <a:latin typeface="Inter"/>
              </a:rPr>
              <a:t>Why Keys Matter:</a:t>
            </a:r>
            <a:r>
              <a:rPr sz="1012" b="0" i="0" u="none">
                <a:solidFill>
                  <a:srgbClr val="CBD5E1"/>
                </a:solidFill>
                <a:latin typeface="Inter"/>
              </a:rPr>
              <a:t> Helps React track changed/added/removed items, improves performance, prevents unnecessary re-renders.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43650" y="1243012"/>
            <a:ext cx="200025" cy="16192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467475" y="1666875"/>
            <a:ext cx="3810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12"/>
              </a:lnSpc>
            </a:pPr>
            <a:r>
              <a:rPr sz="937" b="0" i="0" u="none">
                <a:solidFill>
                  <a:srgbClr val="C678DD"/>
                </a:solidFill>
                <a:latin typeface="Fira Code"/>
              </a:rPr>
              <a:t>const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6675" y="1666875"/>
            <a:ext cx="5334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12"/>
              </a:lnSpc>
            </a:pPr>
            <a:r>
              <a:rPr sz="937" b="0" i="0" u="none">
                <a:solidFill>
                  <a:srgbClr val="98C379"/>
                </a:solidFill>
                <a:latin typeface="Fira Code"/>
              </a:rPr>
              <a:t>'Apple'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72475" y="1666875"/>
            <a:ext cx="6096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12"/>
              </a:lnSpc>
            </a:pPr>
            <a:r>
              <a:rPr sz="937" b="0" i="0" u="none">
                <a:solidFill>
                  <a:srgbClr val="98C379"/>
                </a:solidFill>
                <a:latin typeface="Fira Code"/>
              </a:rPr>
              <a:t>'Banana'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34475" y="1666875"/>
            <a:ext cx="5334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12"/>
              </a:lnSpc>
            </a:pPr>
            <a:r>
              <a:rPr sz="937" b="0" i="0" u="none">
                <a:solidFill>
                  <a:srgbClr val="98C379"/>
                </a:solidFill>
                <a:latin typeface="Fira Code"/>
              </a:rPr>
              <a:t>'Mango'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67475" y="2000250"/>
            <a:ext cx="4572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12"/>
              </a:lnSpc>
            </a:pPr>
            <a:r>
              <a:rPr sz="937" b="0" i="0" u="none">
                <a:solidFill>
                  <a:srgbClr val="C678DD"/>
                </a:solidFill>
                <a:latin typeface="Fira Code"/>
              </a:rPr>
              <a:t>return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81875" y="2333625"/>
            <a:ext cx="2286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12"/>
              </a:lnSpc>
            </a:pPr>
            <a:r>
              <a:rPr sz="937" b="0" i="0" u="none">
                <a:solidFill>
                  <a:srgbClr val="61AFEF"/>
                </a:solidFill>
                <a:latin typeface="Fira Code"/>
              </a:rPr>
              <a:t>map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00875" y="2500312"/>
            <a:ext cx="2286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12"/>
              </a:lnSpc>
            </a:pPr>
            <a:r>
              <a:rPr sz="937" b="0" i="0" u="none">
                <a:solidFill>
                  <a:srgbClr val="D19A66"/>
                </a:solidFill>
                <a:latin typeface="Fira Code"/>
              </a:rPr>
              <a:t>key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9075" y="2500312"/>
            <a:ext cx="762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12"/>
              </a:lnSpc>
            </a:pPr>
            <a:r>
              <a:rPr sz="937" b="0" i="0" u="none">
                <a:solidFill>
                  <a:srgbClr val="E06C75"/>
                </a:solidFill>
                <a:latin typeface="Fira Code"/>
              </a:rPr>
              <a:t>&gt;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7700" y="3733800"/>
            <a:ext cx="161925" cy="161925"/>
          </a:xfrm>
          <a:prstGeom prst="rect">
            <a:avLst/>
          </a:prstGeom>
        </p:spPr>
      </p:pic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657225" y="4062412"/>
          <a:ext cx="5181599" cy="121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55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860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8BDF8"/>
                          </a:solidFill>
                          <a:latin typeface="Space Grotesk SemiBold"/>
                        </a:rPr>
                        <a:t>Method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8BDF8"/>
                          </a:solidFill>
                          <a:latin typeface="Space Grotesk SemiBold"/>
                        </a:rPr>
                        <a:t>Purpose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CBD5E1"/>
                          </a:solidFill>
                          <a:latin typeface="Inter"/>
                        </a:rPr>
                        <a:t>map()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31C3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CBD5E1"/>
                          </a:solidFill>
                          <a:latin typeface="Inter"/>
                        </a:rPr>
                        <a:t>Transforms array items into list of JSX elements.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31C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CBD5E1"/>
                          </a:solidFill>
                          <a:latin typeface="Inter"/>
                        </a:rPr>
                        <a:t>filter()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31C3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CBD5E1"/>
                          </a:solidFill>
                          <a:latin typeface="Inter"/>
                        </a:rPr>
                        <a:t>Creates new array with elements passing a condition.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31C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CBD5E1"/>
                          </a:solidFill>
                          <a:latin typeface="Inter"/>
                        </a:rPr>
                        <a:t>slice()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31C3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CBD5E1"/>
                          </a:solidFill>
                          <a:latin typeface="Inter"/>
                        </a:rPr>
                        <a:t>Returns a portion of array without modifying original.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31C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43650" y="3752850"/>
            <a:ext cx="142875" cy="161925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496050" y="4052887"/>
            <a:ext cx="5048250" cy="1735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6"/>
              </a:lnSpc>
            </a:pPr>
            <a:r>
              <a:rPr sz="1012" b="0" i="0" u="none">
                <a:solidFill>
                  <a:srgbClr val="CBD5E1"/>
                </a:solidFill>
                <a:latin typeface="Inter"/>
              </a:rPr>
              <a:t>✔ </a:t>
            </a:r>
            <a:r>
              <a:rPr sz="1012" b="1" i="0" u="none">
                <a:solidFill>
                  <a:srgbClr val="CBD5E1"/>
                </a:solidFill>
                <a:latin typeface="Inter"/>
              </a:rPr>
              <a:t>DO:</a:t>
            </a:r>
            <a:r>
              <a:rPr sz="1012" b="0" i="0" u="none">
                <a:solidFill>
                  <a:srgbClr val="CBD5E1"/>
                </a:solidFill>
                <a:latin typeface="Inter"/>
              </a:rPr>
              <a:t> Always use unique ID (e.g. key={user.id}).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6050" y="4283571"/>
            <a:ext cx="5048250" cy="1735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6"/>
              </a:lnSpc>
            </a:pPr>
            <a:r>
              <a:rPr sz="1012" b="0" i="0" u="none">
                <a:solidFill>
                  <a:srgbClr val="CBD5E1"/>
                </a:solidFill>
                <a:latin typeface="Inter"/>
              </a:rPr>
              <a:t>❌ </a:t>
            </a:r>
            <a:r>
              <a:rPr sz="1012" b="1" i="0" u="none">
                <a:solidFill>
                  <a:srgbClr val="CBD5E1"/>
                </a:solidFill>
                <a:latin typeface="Inter"/>
              </a:rPr>
              <a:t>DON'T:</a:t>
            </a:r>
            <a:r>
              <a:rPr sz="1012" b="0" i="0" u="none">
                <a:solidFill>
                  <a:srgbClr val="CBD5E1"/>
                </a:solidFill>
                <a:latin typeface="Inter"/>
              </a:rPr>
              <a:t> Avoid using array index if order can change.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6050" y="4514254"/>
            <a:ext cx="5048250" cy="1735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6"/>
              </a:lnSpc>
            </a:pPr>
            <a:r>
              <a:rPr sz="1012" b="0" i="0" u="none">
                <a:solidFill>
                  <a:srgbClr val="CBD5E1"/>
                </a:solidFill>
                <a:latin typeface="Inter"/>
              </a:rPr>
              <a:t>❌ </a:t>
            </a:r>
            <a:r>
              <a:rPr sz="1012" b="1" i="0" u="none">
                <a:solidFill>
                  <a:srgbClr val="CBD5E1"/>
                </a:solidFill>
                <a:latin typeface="Inter"/>
              </a:rPr>
              <a:t>DON'T:</a:t>
            </a:r>
            <a:r>
              <a:rPr sz="1012" b="0" i="0" u="none">
                <a:solidFill>
                  <a:srgbClr val="CBD5E1"/>
                </a:solidFill>
                <a:latin typeface="Inter"/>
              </a:rPr>
              <a:t> Never use random numbers (Math.random()).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7700" y="1543050"/>
            <a:ext cx="857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1200" b="0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7700" y="1773733"/>
            <a:ext cx="857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1200" b="0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7700" y="2004417"/>
            <a:ext cx="857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1200" b="0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43650" y="4052887"/>
            <a:ext cx="857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1200" b="0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43650" y="4283571"/>
            <a:ext cx="857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1200" b="0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43650" y="4514254"/>
            <a:ext cx="857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1200" b="0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7225" y="4667250"/>
            <a:ext cx="1095523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1752748" y="4667250"/>
            <a:ext cx="4086076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57225" y="4972050"/>
            <a:ext cx="1095523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1752748" y="4972050"/>
            <a:ext cx="4086076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10875" y="433387"/>
            <a:ext cx="895350" cy="2571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775" y="1038225"/>
            <a:ext cx="5524500" cy="29146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1725" y="1038225"/>
            <a:ext cx="5524500" cy="29146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775" y="4048125"/>
            <a:ext cx="5524500" cy="208121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81725" y="4048125"/>
            <a:ext cx="5524500" cy="208121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85775" y="390525"/>
            <a:ext cx="245745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50" b="1" i="0" u="none">
                <a:solidFill>
                  <a:srgbClr val="F8FAFC"/>
                </a:solidFill>
                <a:latin typeface="Inter"/>
              </a:rPr>
              <a:t>17. Forms in React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5825" y="1219200"/>
            <a:ext cx="5210651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75" b="0" i="0" u="none">
                <a:solidFill>
                  <a:srgbClr val="38BDF8"/>
                </a:solidFill>
                <a:latin typeface="Space Grotesk SemiBold"/>
              </a:rPr>
              <a:t>Controlled Components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700" y="1504950"/>
            <a:ext cx="5200650" cy="3918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0" i="0" u="none">
                <a:solidFill>
                  <a:srgbClr val="CBD5E1"/>
                </a:solidFill>
                <a:latin typeface="Inter"/>
              </a:rPr>
              <a:t>Form data is handled by React state ("single source of truth"). Input value is set from state, and onChange updates state.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700" y="1973014"/>
            <a:ext cx="5200650" cy="1933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CBD5E1"/>
                </a:solidFill>
                <a:latin typeface="Inter"/>
              </a:rPr>
              <a:t>Supported Input Types:</a:t>
            </a:r>
            <a:r>
              <a:rPr sz="1050" b="0" i="0" u="none">
                <a:solidFill>
                  <a:srgbClr val="CBD5E1"/>
                </a:solidFill>
                <a:latin typeface="Inter"/>
              </a:rPr>
              <a:t> text, email, password, number, checkbox, radio, date, file.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19875" y="1219200"/>
            <a:ext cx="5170646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75" b="0" i="0" u="none">
                <a:solidFill>
                  <a:srgbClr val="38BDF8"/>
                </a:solidFill>
                <a:latin typeface="Space Grotesk SemiBold"/>
              </a:rPr>
              <a:t>Simple Form 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700" y="4229100"/>
            <a:ext cx="5460682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75" b="0" i="0" u="none">
                <a:solidFill>
                  <a:srgbClr val="38BDF8"/>
                </a:solidFill>
                <a:latin typeface="Space Grotesk SemiBold"/>
              </a:rPr>
              <a:t>Checkbox &amp; Radio Examples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43650" y="4229100"/>
            <a:ext cx="5460682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75" b="0" i="0" u="none">
                <a:solidFill>
                  <a:srgbClr val="38BDF8"/>
                </a:solidFill>
                <a:latin typeface="Space Grotesk SemiBold"/>
              </a:rPr>
              <a:t>Form Validation &amp; Use Cases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7700" y="1243012"/>
            <a:ext cx="161925" cy="16192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43650" y="1243012"/>
            <a:ext cx="200025" cy="16192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467475" y="1666875"/>
            <a:ext cx="3810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12"/>
              </a:lnSpc>
            </a:pPr>
            <a:r>
              <a:rPr sz="937" b="0" i="0" u="none">
                <a:solidFill>
                  <a:srgbClr val="C678DD"/>
                </a:solidFill>
                <a:latin typeface="Fira Code"/>
              </a:rPr>
              <a:t>const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48675" y="1666875"/>
            <a:ext cx="6096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12"/>
              </a:lnSpc>
            </a:pPr>
            <a:r>
              <a:rPr sz="937" b="0" i="0" u="none">
                <a:solidFill>
                  <a:srgbClr val="61AFEF"/>
                </a:solidFill>
                <a:latin typeface="Fira Code"/>
              </a:rPr>
              <a:t>useState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34475" y="1666875"/>
            <a:ext cx="1524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12"/>
              </a:lnSpc>
            </a:pPr>
            <a:r>
              <a:rPr sz="937" b="0" i="0" u="none">
                <a:solidFill>
                  <a:srgbClr val="98C379"/>
                </a:solidFill>
                <a:latin typeface="Fira Code"/>
              </a:rPr>
              <a:t>''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7475" y="1833562"/>
            <a:ext cx="3810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12"/>
              </a:lnSpc>
            </a:pPr>
            <a:r>
              <a:rPr sz="937" b="0" i="0" u="none">
                <a:solidFill>
                  <a:srgbClr val="C678DD"/>
                </a:solidFill>
                <a:latin typeface="Fira Code"/>
              </a:rPr>
              <a:t>const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24675" y="1833562"/>
            <a:ext cx="9144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12"/>
              </a:lnSpc>
            </a:pPr>
            <a:r>
              <a:rPr sz="937" b="0" i="0" u="none">
                <a:solidFill>
                  <a:srgbClr val="61AFEF"/>
                </a:solidFill>
                <a:latin typeface="Fira Code"/>
              </a:rPr>
              <a:t>handleSubmit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72275" y="2000250"/>
            <a:ext cx="10668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12"/>
              </a:lnSpc>
            </a:pPr>
            <a:r>
              <a:rPr sz="937" b="0" i="0" u="none">
                <a:solidFill>
                  <a:srgbClr val="61AFEF"/>
                </a:solidFill>
                <a:latin typeface="Fira Code"/>
              </a:rPr>
              <a:t>preventDefault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19875" y="2166937"/>
            <a:ext cx="3810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12"/>
              </a:lnSpc>
            </a:pPr>
            <a:r>
              <a:rPr sz="937" b="0" i="0" u="none">
                <a:solidFill>
                  <a:srgbClr val="61AFEF"/>
                </a:solidFill>
                <a:latin typeface="Fira Code"/>
              </a:rPr>
              <a:t>alert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77075" y="2166937"/>
            <a:ext cx="12954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12"/>
              </a:lnSpc>
            </a:pPr>
            <a:r>
              <a:rPr sz="937" b="0" i="0" u="none">
                <a:solidFill>
                  <a:srgbClr val="98C379"/>
                </a:solidFill>
                <a:latin typeface="Fira Code"/>
              </a:rPr>
              <a:t>`Email: ${email}`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67475" y="2500312"/>
            <a:ext cx="4572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12"/>
              </a:lnSpc>
            </a:pPr>
            <a:r>
              <a:rPr sz="937" b="0" i="0" u="none">
                <a:solidFill>
                  <a:srgbClr val="C678DD"/>
                </a:solidFill>
                <a:latin typeface="Fira Code"/>
              </a:rPr>
              <a:t>return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96075" y="2667000"/>
            <a:ext cx="6096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12"/>
              </a:lnSpc>
            </a:pPr>
            <a:r>
              <a:rPr sz="937" b="0" i="0" u="none">
                <a:solidFill>
                  <a:srgbClr val="D19A66"/>
                </a:solidFill>
                <a:latin typeface="Fira Code"/>
              </a:rPr>
              <a:t>onSubmit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48675" y="2667000"/>
            <a:ext cx="762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12"/>
              </a:lnSpc>
            </a:pPr>
            <a:r>
              <a:rPr sz="937" b="0" i="0" u="none">
                <a:solidFill>
                  <a:srgbClr val="E06C75"/>
                </a:solidFill>
                <a:latin typeface="Fira Code"/>
              </a:rPr>
              <a:t>&gt;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48475" y="2833687"/>
            <a:ext cx="3048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12"/>
              </a:lnSpc>
            </a:pPr>
            <a:r>
              <a:rPr sz="937" b="0" i="0" u="none">
                <a:solidFill>
                  <a:srgbClr val="D19A66"/>
                </a:solidFill>
                <a:latin typeface="Fira Code"/>
              </a:rPr>
              <a:t>type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29475" y="2833687"/>
            <a:ext cx="5334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12"/>
              </a:lnSpc>
            </a:pPr>
            <a:r>
              <a:rPr sz="937" b="0" i="0" u="none">
                <a:solidFill>
                  <a:srgbClr val="98C379"/>
                </a:solidFill>
                <a:latin typeface="Fira Code"/>
              </a:rPr>
              <a:t>"email"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39075" y="2833687"/>
            <a:ext cx="3810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12"/>
              </a:lnSpc>
            </a:pPr>
            <a:r>
              <a:rPr sz="937" b="0" i="0" u="none">
                <a:solidFill>
                  <a:srgbClr val="D19A66"/>
                </a:solidFill>
                <a:latin typeface="Fira Code"/>
              </a:rPr>
              <a:t>value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05675" y="3000375"/>
            <a:ext cx="6096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12"/>
              </a:lnSpc>
            </a:pPr>
            <a:r>
              <a:rPr sz="937" b="0" i="0" u="none">
                <a:solidFill>
                  <a:srgbClr val="D19A66"/>
                </a:solidFill>
                <a:latin typeface="Fira Code"/>
              </a:rPr>
              <a:t>onChange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01075" y="3000375"/>
            <a:ext cx="6096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12"/>
              </a:lnSpc>
            </a:pPr>
            <a:r>
              <a:rPr sz="937" b="0" i="0" u="none">
                <a:solidFill>
                  <a:srgbClr val="61AFEF"/>
                </a:solidFill>
                <a:latin typeface="Fira Code"/>
              </a:rPr>
              <a:t>setEmail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82275" y="3000375"/>
            <a:ext cx="1524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12"/>
              </a:lnSpc>
            </a:pPr>
            <a:r>
              <a:rPr sz="937" b="0" i="0" u="none">
                <a:solidFill>
                  <a:srgbClr val="E06C75"/>
                </a:solidFill>
                <a:latin typeface="Fira Code"/>
              </a:rPr>
              <a:t>/&gt;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48475" y="3167062"/>
            <a:ext cx="3048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12"/>
              </a:lnSpc>
            </a:pPr>
            <a:r>
              <a:rPr sz="937" b="0" i="0" u="none">
                <a:solidFill>
                  <a:srgbClr val="D19A66"/>
                </a:solidFill>
                <a:latin typeface="Fira Code"/>
              </a:rPr>
              <a:t>type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29475" y="3167062"/>
            <a:ext cx="6096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12"/>
              </a:lnSpc>
            </a:pPr>
            <a:r>
              <a:rPr sz="937" b="0" i="0" u="none">
                <a:solidFill>
                  <a:srgbClr val="98C379"/>
                </a:solidFill>
                <a:latin typeface="Fira Code"/>
              </a:rPr>
              <a:t>"submit"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39075" y="3167062"/>
            <a:ext cx="762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12"/>
              </a:lnSpc>
            </a:pPr>
            <a:r>
              <a:rPr sz="937" b="0" i="0" u="none">
                <a:solidFill>
                  <a:srgbClr val="E06C75"/>
                </a:solidFill>
                <a:latin typeface="Fira Code"/>
              </a:rPr>
              <a:t>&gt;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1525" y="4676775"/>
            <a:ext cx="7334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12"/>
              </a:lnSpc>
            </a:pPr>
            <a:r>
              <a:rPr sz="937" b="0" i="1" u="none">
                <a:solidFill>
                  <a:srgbClr val="64748B"/>
                </a:solidFill>
                <a:latin typeface="Fira Code"/>
              </a:rPr>
              <a:t>// Checkbox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7725" y="4843462"/>
            <a:ext cx="3048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12"/>
              </a:lnSpc>
            </a:pPr>
            <a:r>
              <a:rPr sz="937" b="0" i="0" u="none">
                <a:solidFill>
                  <a:srgbClr val="D19A66"/>
                </a:solidFill>
                <a:latin typeface="Fira Code"/>
              </a:rPr>
              <a:t>type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28725" y="4843462"/>
            <a:ext cx="7620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12"/>
              </a:lnSpc>
            </a:pPr>
            <a:r>
              <a:rPr sz="937" b="0" i="0" u="none">
                <a:solidFill>
                  <a:srgbClr val="98C379"/>
                </a:solidFill>
                <a:latin typeface="Fira Code"/>
              </a:rPr>
              <a:t>"checkbox"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066925" y="4843462"/>
            <a:ext cx="5334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12"/>
              </a:lnSpc>
            </a:pPr>
            <a:r>
              <a:rPr sz="937" b="0" i="0" u="none">
                <a:solidFill>
                  <a:srgbClr val="D19A66"/>
                </a:solidFill>
                <a:latin typeface="Fira Code"/>
              </a:rPr>
              <a:t>checked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04925" y="5010150"/>
            <a:ext cx="6096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12"/>
              </a:lnSpc>
            </a:pPr>
            <a:r>
              <a:rPr sz="937" b="0" i="0" u="none">
                <a:solidFill>
                  <a:srgbClr val="D19A66"/>
                </a:solidFill>
                <a:latin typeface="Fira Code"/>
              </a:rPr>
              <a:t>onChange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600325" y="5010150"/>
            <a:ext cx="6096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12"/>
              </a:lnSpc>
            </a:pPr>
            <a:r>
              <a:rPr sz="937" b="0" i="0" u="none">
                <a:solidFill>
                  <a:srgbClr val="61AFEF"/>
                </a:solidFill>
                <a:latin typeface="Fira Code"/>
              </a:rPr>
              <a:t>setAgree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733925" y="5010150"/>
            <a:ext cx="1524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12"/>
              </a:lnSpc>
            </a:pPr>
            <a:r>
              <a:rPr sz="937" b="0" i="0" u="none">
                <a:solidFill>
                  <a:srgbClr val="E06C75"/>
                </a:solidFill>
                <a:latin typeface="Fira Code"/>
              </a:rPr>
              <a:t>/&gt;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1525" y="5343525"/>
            <a:ext cx="5334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12"/>
              </a:lnSpc>
            </a:pPr>
            <a:r>
              <a:rPr sz="937" b="0" i="1" u="none">
                <a:solidFill>
                  <a:srgbClr val="64748B"/>
                </a:solidFill>
                <a:latin typeface="Fira Code"/>
              </a:rPr>
              <a:t>// Radio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7725" y="5510212"/>
            <a:ext cx="3048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12"/>
              </a:lnSpc>
            </a:pPr>
            <a:r>
              <a:rPr sz="937" b="0" i="0" u="none">
                <a:solidFill>
                  <a:srgbClr val="D19A66"/>
                </a:solidFill>
                <a:latin typeface="Fira Code"/>
              </a:rPr>
              <a:t>type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228725" y="5510212"/>
            <a:ext cx="5334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12"/>
              </a:lnSpc>
            </a:pPr>
            <a:r>
              <a:rPr sz="937" b="0" i="0" u="none">
                <a:solidFill>
                  <a:srgbClr val="98C379"/>
                </a:solidFill>
                <a:latin typeface="Fira Code"/>
              </a:rPr>
              <a:t>"radio"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838325" y="5510212"/>
            <a:ext cx="3810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12"/>
              </a:lnSpc>
            </a:pPr>
            <a:r>
              <a:rPr sz="937" b="0" i="0" u="none">
                <a:solidFill>
                  <a:srgbClr val="D19A66"/>
                </a:solidFill>
                <a:latin typeface="Fira Code"/>
              </a:rPr>
              <a:t>value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295525" y="5510212"/>
            <a:ext cx="4572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12"/>
              </a:lnSpc>
            </a:pPr>
            <a:r>
              <a:rPr sz="937" b="0" i="0" u="none">
                <a:solidFill>
                  <a:srgbClr val="98C379"/>
                </a:solidFill>
                <a:latin typeface="Fira Code"/>
              </a:rPr>
              <a:t>"male"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828925" y="5510212"/>
            <a:ext cx="5334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12"/>
              </a:lnSpc>
            </a:pPr>
            <a:r>
              <a:rPr sz="937" b="0" i="0" u="none">
                <a:solidFill>
                  <a:srgbClr val="D19A66"/>
                </a:solidFill>
                <a:latin typeface="Fira Code"/>
              </a:rPr>
              <a:t>checked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352925" y="5510212"/>
            <a:ext cx="4572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12"/>
              </a:lnSpc>
            </a:pPr>
            <a:r>
              <a:rPr sz="937" b="0" i="0" u="none">
                <a:solidFill>
                  <a:srgbClr val="98C379"/>
                </a:solidFill>
                <a:latin typeface="Fira Code"/>
              </a:rPr>
              <a:t>'male'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304925" y="5676900"/>
            <a:ext cx="6096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12"/>
              </a:lnSpc>
            </a:pPr>
            <a:r>
              <a:rPr sz="937" b="0" i="0" u="none">
                <a:solidFill>
                  <a:srgbClr val="D19A66"/>
                </a:solidFill>
                <a:latin typeface="Fira Code"/>
              </a:rPr>
              <a:t>onChange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600325" y="5676900"/>
            <a:ext cx="6858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12"/>
              </a:lnSpc>
            </a:pPr>
            <a:r>
              <a:rPr sz="937" b="0" i="0" u="none">
                <a:solidFill>
                  <a:srgbClr val="61AFEF"/>
                </a:solidFill>
                <a:latin typeface="Fira Code"/>
              </a:rPr>
              <a:t>setGender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657725" y="5676900"/>
            <a:ext cx="1524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12"/>
              </a:lnSpc>
            </a:pPr>
            <a:r>
              <a:rPr sz="937" b="0" i="0" u="none">
                <a:solidFill>
                  <a:srgbClr val="E06C75"/>
                </a:solidFill>
                <a:latin typeface="Fira Code"/>
              </a:rPr>
              <a:t>/&gt;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96050" y="4552950"/>
            <a:ext cx="5048250" cy="1735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6"/>
              </a:lnSpc>
            </a:pPr>
            <a:r>
              <a:rPr sz="1012" b="0" i="0" u="none">
                <a:solidFill>
                  <a:srgbClr val="CBD5E1"/>
                </a:solidFill>
                <a:latin typeface="Inter"/>
              </a:rPr>
              <a:t>Check inputs (if (!email.includes('@')) setError('Invalid Email')).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96050" y="4783633"/>
            <a:ext cx="5048250" cy="1735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6"/>
              </a:lnSpc>
            </a:pPr>
            <a:r>
              <a:rPr sz="1012" b="0" i="0" u="none">
                <a:solidFill>
                  <a:srgbClr val="CBD5E1"/>
                </a:solidFill>
                <a:latin typeface="Inter"/>
              </a:rPr>
              <a:t>Display clear error messages under fields.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96050" y="5014317"/>
            <a:ext cx="5048250" cy="1735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6"/>
              </a:lnSpc>
            </a:pPr>
            <a:r>
              <a:rPr sz="1012" b="1" i="0" u="none">
                <a:solidFill>
                  <a:srgbClr val="CBD5E1"/>
                </a:solidFill>
                <a:latin typeface="Inter"/>
              </a:rPr>
              <a:t>Common Use Cases:</a:t>
            </a:r>
            <a:r>
              <a:rPr sz="1012" b="0" i="0" u="none">
                <a:solidFill>
                  <a:srgbClr val="CBD5E1"/>
                </a:solidFill>
                <a:latin typeface="Inter"/>
              </a:rPr>
              <a:t> Login/Signup forms, Contact forms, Surveys.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343650" y="4552950"/>
            <a:ext cx="857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1200" b="0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343650" y="4783633"/>
            <a:ext cx="857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1200" b="0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343650" y="5014317"/>
            <a:ext cx="857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1200" b="0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10875" y="433387"/>
            <a:ext cx="895350" cy="2571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775" y="2107257"/>
            <a:ext cx="11220450" cy="15144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775" y="3716982"/>
            <a:ext cx="11220450" cy="3429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775" y="1403002"/>
            <a:ext cx="2007840" cy="53280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88890" y="1403002"/>
            <a:ext cx="2007840" cy="532804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92005" y="1403002"/>
            <a:ext cx="2007840" cy="532804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95120" y="1403002"/>
            <a:ext cx="2007840" cy="532804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698235" y="1403002"/>
            <a:ext cx="2007840" cy="53280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85775" y="390525"/>
            <a:ext cx="264795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50" b="1" i="0" u="none">
                <a:solidFill>
                  <a:srgbClr val="F8FAFC"/>
                </a:solidFill>
                <a:latin typeface="Inter"/>
              </a:rPr>
              <a:t>18. State and Props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5775" y="1038225"/>
            <a:ext cx="11220450" cy="1933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0" i="0" u="none">
                <a:solidFill>
                  <a:srgbClr val="CBD5E1"/>
                </a:solidFill>
                <a:latin typeface="Inter"/>
              </a:rPr>
              <a:t>Comprehensive comparison and data flow of State and Props: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9815" y="1578917"/>
            <a:ext cx="14287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38BDF8"/>
                </a:solidFill>
                <a:latin typeface="Inter"/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72930" y="1578917"/>
            <a:ext cx="14287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38BDF8"/>
                </a:solidFill>
                <a:latin typeface="Inter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6045" y="1578917"/>
            <a:ext cx="14287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38BDF8"/>
                </a:solidFill>
                <a:latin typeface="Inter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79160" y="1578917"/>
            <a:ext cx="14287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38BDF8"/>
                </a:solidFill>
                <a:latin typeface="Inter"/>
              </a:rPr>
              <a:t>→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495300" y="2116782"/>
          <a:ext cx="11201399" cy="14954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79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039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394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9085"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8BDF8"/>
                          </a:solidFill>
                          <a:latin typeface="Space Grotesk SemiBold"/>
                        </a:rPr>
                        <a:t>Feature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8BDF8"/>
                          </a:solidFill>
                          <a:latin typeface="Space Grotesk SemiBold"/>
                        </a:rPr>
                        <a:t>State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8BDF8"/>
                          </a:solidFill>
                          <a:latin typeface="Space Grotesk SemiBold"/>
                        </a:rPr>
                        <a:t>Props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9085"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CBD5E1"/>
                          </a:solidFill>
                          <a:latin typeface="Inter"/>
                        </a:rPr>
                        <a:t>Definition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31C3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CBD5E1"/>
                          </a:solidFill>
                          <a:latin typeface="Inter"/>
                        </a:rPr>
                        <a:t>Data managed </a:t>
                      </a:r>
                      <a:r>
                        <a:rPr sz="975" b="0" i="1" u="none">
                          <a:solidFill>
                            <a:srgbClr val="CBD5E1"/>
                          </a:solidFill>
                          <a:latin typeface="Inter"/>
                        </a:rPr>
                        <a:t>inside</a:t>
                      </a:r>
                      <a:r>
                        <a:rPr sz="975" b="0" i="0" u="none">
                          <a:solidFill>
                            <a:srgbClr val="CBD5E1"/>
                          </a:solidFill>
                          <a:latin typeface="Inter"/>
                        </a:rPr>
                        <a:t> component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31C3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CBD5E1"/>
                          </a:solidFill>
                          <a:latin typeface="Inter"/>
                        </a:rPr>
                        <a:t>Data passed </a:t>
                      </a:r>
                      <a:r>
                        <a:rPr sz="975" b="0" i="1" u="none">
                          <a:solidFill>
                            <a:srgbClr val="CBD5E1"/>
                          </a:solidFill>
                          <a:latin typeface="Inter"/>
                        </a:rPr>
                        <a:t>from parent to child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31C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9085"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CBD5E1"/>
                          </a:solidFill>
                          <a:latin typeface="Inter"/>
                        </a:rPr>
                        <a:t>Mutable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31C3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CBD5E1"/>
                          </a:solidFill>
                          <a:latin typeface="Inter"/>
                        </a:rPr>
                        <a:t>Yes (via useState / setState)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31C3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CBD5E1"/>
                          </a:solidFill>
                          <a:latin typeface="Inter"/>
                        </a:rPr>
                        <a:t>No (Read-only immutable)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31C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9085"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CBD5E1"/>
                          </a:solidFill>
                          <a:latin typeface="Inter"/>
                        </a:rPr>
                        <a:t>Scope &amp; Flow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31C3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CBD5E1"/>
                          </a:solidFill>
                          <a:latin typeface="Inter"/>
                        </a:rPr>
                        <a:t>Component level (Internal)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31C3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CBD5E1"/>
                          </a:solidFill>
                          <a:latin typeface="Inter"/>
                        </a:rPr>
                        <a:t>Parent → Child (Unidirectional)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31C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9085"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CBD5E1"/>
                          </a:solidFill>
                          <a:latin typeface="Inter"/>
                        </a:rPr>
                        <a:t>Purpose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31C3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CBD5E1"/>
                          </a:solidFill>
                          <a:latin typeface="Inter"/>
                        </a:rPr>
                        <a:t>Handle dynamic interaction &amp; changes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31C3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CBD5E1"/>
                          </a:solidFill>
                          <a:latin typeface="Inter"/>
                        </a:rPr>
                        <a:t>Reuse components &amp; pass parameters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31C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657225" y="3812232"/>
            <a:ext cx="15240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2" b="1" i="0" u="none">
                <a:solidFill>
                  <a:srgbClr val="F8FAFC"/>
                </a:solidFill>
                <a:latin typeface="Inter"/>
              </a:rPr>
              <a:t>Best Practice Summary: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95550" y="3812232"/>
            <a:ext cx="3333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2" b="1" i="0" u="none">
                <a:solidFill>
                  <a:srgbClr val="F8FAFC"/>
                </a:solidFill>
                <a:latin typeface="Inter"/>
              </a:rPr>
              <a:t>State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5550" y="3812232"/>
            <a:ext cx="3810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2" b="1" i="0" u="none">
                <a:solidFill>
                  <a:srgbClr val="F8FAFC"/>
                </a:solidFill>
                <a:latin typeface="Inter"/>
              </a:rPr>
              <a:t>Props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5592" y="1507777"/>
            <a:ext cx="1888204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F8FAFC"/>
                </a:solidFill>
                <a:latin typeface="Inter"/>
              </a:rPr>
              <a:t>Initial State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0550" y="1679227"/>
            <a:ext cx="1798290" cy="1518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196"/>
              </a:lnSpc>
            </a:pPr>
            <a:r>
              <a:rPr sz="825" b="0" i="0" u="none">
                <a:solidFill>
                  <a:srgbClr val="94A3B8"/>
                </a:solidFill>
                <a:latin typeface="Inter"/>
              </a:rPr>
              <a:t>count = 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48707" y="1507777"/>
            <a:ext cx="1888204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F8FAFC"/>
                </a:solidFill>
                <a:latin typeface="Inter"/>
              </a:rPr>
              <a:t>User Action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93665" y="1679227"/>
            <a:ext cx="1798290" cy="1518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196"/>
              </a:lnSpc>
            </a:pPr>
            <a:r>
              <a:rPr sz="825" b="0" i="0" u="none">
                <a:solidFill>
                  <a:srgbClr val="94A3B8"/>
                </a:solidFill>
                <a:latin typeface="Inter"/>
              </a:rPr>
              <a:t>Clicks Button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51823" y="1507777"/>
            <a:ext cx="1888204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F8FAFC"/>
                </a:solidFill>
                <a:latin typeface="Inter"/>
              </a:rPr>
              <a:t>State Updates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96780" y="1679227"/>
            <a:ext cx="1798290" cy="1518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196"/>
              </a:lnSpc>
            </a:pPr>
            <a:r>
              <a:rPr sz="825" b="0" i="0" u="none">
                <a:solidFill>
                  <a:srgbClr val="94A3B8"/>
                </a:solidFill>
                <a:latin typeface="Inter"/>
              </a:rPr>
              <a:t>setCount(count+1)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54938" y="1507777"/>
            <a:ext cx="1888204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F8FAFC"/>
                </a:solidFill>
                <a:latin typeface="Inter"/>
              </a:rPr>
              <a:t>Re-render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9895" y="1679227"/>
            <a:ext cx="1798290" cy="1518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196"/>
              </a:lnSpc>
            </a:pPr>
            <a:r>
              <a:rPr sz="825" b="0" i="0" u="none">
                <a:solidFill>
                  <a:srgbClr val="94A3B8"/>
                </a:solidFill>
                <a:latin typeface="Inter"/>
              </a:rPr>
              <a:t>Virtual DOM Diffs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58053" y="1507777"/>
            <a:ext cx="1888204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F8FAFC"/>
                </a:solidFill>
                <a:latin typeface="Inter"/>
              </a:rPr>
              <a:t>UI Updated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03010" y="1679227"/>
            <a:ext cx="1798290" cy="1518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196"/>
              </a:lnSpc>
            </a:pPr>
            <a:r>
              <a:rPr sz="825" b="0" i="0" u="none">
                <a:solidFill>
                  <a:srgbClr val="94A3B8"/>
                </a:solidFill>
                <a:latin typeface="Inter"/>
              </a:rPr>
              <a:t>Display New Count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5300" y="2712094"/>
            <a:ext cx="1957982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2453282" y="2712094"/>
            <a:ext cx="4603998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7057280" y="2712094"/>
            <a:ext cx="4639419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95300" y="3016894"/>
            <a:ext cx="1957982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2453282" y="3016894"/>
            <a:ext cx="4603998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7057280" y="3016894"/>
            <a:ext cx="4639419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495300" y="3312169"/>
            <a:ext cx="1957982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2453282" y="3312169"/>
            <a:ext cx="4603998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7057280" y="3312169"/>
            <a:ext cx="4639419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0537" y="3618458"/>
            <a:ext cx="3590925" cy="9334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75472" y="2305942"/>
            <a:ext cx="8441055" cy="569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484"/>
              </a:lnSpc>
            </a:pPr>
            <a:r>
              <a:rPr sz="3900" b="1" i="0" u="none">
                <a:solidFill>
                  <a:srgbClr val="38BDF8"/>
                </a:solidFill>
                <a:latin typeface="Space Grotesk"/>
              </a:rPr>
              <a:t>Complete ReactJS Fundamentals!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19362" y="3018383"/>
            <a:ext cx="715327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0" i="0" u="none">
                <a:solidFill>
                  <a:srgbClr val="94A3B8"/>
                </a:solidFill>
                <a:latin typeface="Inter"/>
              </a:rPr>
              <a:t>You have covered all 18 topics from Introduction to Advanced React Concepts!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91062" y="3818483"/>
            <a:ext cx="2809875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38BDF8"/>
                </a:solidFill>
                <a:latin typeface="Inter"/>
              </a:rPr>
              <a:t>L. ATRI DATTA RAVI TEZ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22018" y="4170908"/>
            <a:ext cx="2747962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0" i="0" u="none">
                <a:solidFill>
                  <a:srgbClr val="CBD5E1"/>
                </a:solidFill>
                <a:latin typeface="Inter SemiBold"/>
              </a:rPr>
              <a:t>ASST. PROFESSOR &amp; WEB ADMIN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1288</Words>
  <Application>Microsoft Office PowerPoint</Application>
  <PresentationFormat>Widescreen</PresentationFormat>
  <Paragraphs>356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Arial</vt:lpstr>
      <vt:lpstr>Calibri</vt:lpstr>
      <vt:lpstr>Fira Code</vt:lpstr>
      <vt:lpstr>Inter</vt:lpstr>
      <vt:lpstr>Inter SemiBold</vt:lpstr>
      <vt:lpstr>Space Grotesk</vt:lpstr>
      <vt:lpstr>Space Grotesk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AtriDatta</cp:lastModifiedBy>
  <cp:revision>2</cp:revision>
  <dcterms:created xsi:type="dcterms:W3CDTF">2013-01-27T09:14:16Z</dcterms:created>
  <dcterms:modified xsi:type="dcterms:W3CDTF">2026-08-01T11:08:18Z</dcterms:modified>
  <cp:category/>
</cp:coreProperties>
</file>