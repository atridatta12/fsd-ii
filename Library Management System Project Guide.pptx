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45493" y="2476946"/>
            <a:ext cx="8101012" cy="503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b="1" sz="3450" i="0" u="none">
                <a:solidFill>
                  <a:srgbClr val="F8FAFC"/>
                </a:solidFill>
                <a:latin typeface="Space Grotesk"/>
              </a:rPr>
              <a:t>Library Management </a:t>
            </a:r>
            <a:r>
              <a:rPr b="1" sz="3450" i="0" u="none">
                <a:solidFill>
                  <a:srgbClr val="38BDF8"/>
                </a:solidFill>
                <a:latin typeface="Space Grotesk"/>
              </a:rPr>
              <a:t>System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0775" y="3095029"/>
            <a:ext cx="7410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Complete Student Guide: Installation, Code Explanation, Local Testing &amp; Cloud Deployment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3637954"/>
            <a:ext cx="5391150" cy="742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95775" y="3799879"/>
            <a:ext cx="3600450" cy="2000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0B981"/>
                </a:solidFill>
                <a:latin typeface="Inter"/>
              </a:rPr>
              <a:t>ReactJS + Express + MongoDB +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4750" y="4057054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Inter"/>
              </a:rPr>
              <a:t>Presented By: L. ATRI DATTA RAVI TEZ | ASST. PROFESSOR &amp; WEB ADMIN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3818929"/>
            <a:ext cx="1524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09575"/>
            <a:ext cx="7810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2920751"/>
            <a:ext cx="5581650" cy="514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42975"/>
            <a:ext cx="5581650" cy="304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1180058"/>
            <a:ext cx="5581650" cy="49768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" y="1753939"/>
            <a:ext cx="5581650" cy="49768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" y="2327820"/>
            <a:ext cx="5581650" cy="497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150" y="352425"/>
            <a:ext cx="43910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1. System Architecture &amp; </a:t>
            </a:r>
            <a:r>
              <a:rPr b="1" sz="2100" i="0" u="none">
                <a:solidFill>
                  <a:srgbClr val="38BDF8"/>
                </a:solidFill>
                <a:latin typeface="Space Grotesk"/>
              </a:rP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" y="942975"/>
            <a:ext cx="5581650" cy="179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CBD5E1"/>
                </a:solidFill>
                <a:latin typeface="Inter"/>
              </a:rPr>
              <a:t>Library Management System (LMS) full-stack architecture execution flow: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016001"/>
            <a:ext cx="800100" cy="1524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Inter"/>
              </a:rPr>
              <a:t>Data Flow: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725" y="952500"/>
            <a:ext cx="5562600" cy="3028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1265783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1. React UI Frontend (Client)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1437233"/>
            <a:ext cx="5314950" cy="1547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Book Catalog, Add Book Form, Issue Status &amp; Author details manage chestundi.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1839664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2. Express REST API (Backend Server)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2011114"/>
            <a:ext cx="5314950" cy="1547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HTTP GET, POST, PUT, DELETE requests process chesi validation chestundi.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2413545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3. MongoDB Atlas (Cloud Database)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2584995"/>
            <a:ext cx="5314950" cy="1547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Books collection lo Book Title, Author, ISBN, Availability status store chestundi.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035051"/>
            <a:ext cx="1238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09575"/>
            <a:ext cx="7810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3318569"/>
            <a:ext cx="113157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1237208"/>
            <a:ext cx="3682900" cy="19861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400" y="1237208"/>
            <a:ext cx="3683049" cy="19861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0800" y="1237208"/>
            <a:ext cx="3682900" cy="198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150" y="352425"/>
            <a:ext cx="47148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2. Software Installation </a:t>
            </a:r>
            <a:r>
              <a:rPr b="1" sz="2100" i="0" u="none">
                <a:solidFill>
                  <a:srgbClr val="38BDF8"/>
                </a:solidFill>
                <a:latin typeface="Space Grotesk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50" y="942975"/>
            <a:ext cx="11315700" cy="179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CBD5E1"/>
                </a:solidFill>
                <a:latin typeface="Inter"/>
              </a:rPr>
              <a:t>Full-stack development ki kaavalsina 3 essential software tools setup: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13819"/>
            <a:ext cx="1524000" cy="1524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Inter"/>
              </a:rPr>
              <a:t>Key Note for Students: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1399133"/>
            <a:ext cx="33069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 1. Node.js (Runtime)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75" y="1675358"/>
            <a:ext cx="3359050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12" i="0" u="none">
                <a:solidFill>
                  <a:srgbClr val="CBD5E1"/>
                </a:solidFill>
                <a:latin typeface="Inter"/>
              </a:rPr>
              <a:t>Purpose: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 Express backend server run cheyadaniki and npm packages download cheyadaniki.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75" y="2092374"/>
            <a:ext cx="3359050" cy="3632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12" i="0" u="none">
                <a:solidFill>
                  <a:srgbClr val="CBD5E1"/>
                </a:solidFill>
                <a:latin typeface="Inter"/>
              </a:rPr>
              <a:t>Steps: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 Download LTS version from 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nodejs.org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 and verify: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3025" y="1399133"/>
            <a:ext cx="3247124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2. VS Code (IDE)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325" y="1675358"/>
            <a:ext cx="3359199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12" i="0" u="none">
                <a:solidFill>
                  <a:srgbClr val="CBD5E1"/>
                </a:solidFill>
                <a:latin typeface="Inter"/>
              </a:rPr>
              <a:t>Purpose: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 Complete project code write cheyadaniki and terminal commands run cheyadaniki.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325" y="2092374"/>
            <a:ext cx="3359199" cy="3632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12" i="0" u="none">
                <a:solidFill>
                  <a:srgbClr val="CBD5E1"/>
                </a:solidFill>
                <a:latin typeface="Inter"/>
              </a:rPr>
              <a:t>Steps: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 Install from 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code.visualstudio.com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 with ES7 React Snippets extension.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2275" y="1399133"/>
            <a:ext cx="33069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3. MongoDB Atlas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2725" y="1675358"/>
            <a:ext cx="3359050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12" i="0" u="none">
                <a:solidFill>
                  <a:srgbClr val="CBD5E1"/>
                </a:solidFill>
                <a:latin typeface="Inter"/>
              </a:rPr>
              <a:t>Purpose: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 Cloud database setup (Live deployment lo data persistent ga undadaniki).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2725" y="2092374"/>
            <a:ext cx="3359050" cy="36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12" i="0" u="none">
                <a:solidFill>
                  <a:srgbClr val="CBD5E1"/>
                </a:solidFill>
                <a:latin typeface="Inter"/>
              </a:rPr>
              <a:t>Steps: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 Sign up on 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mongodb.com/cloud/atlas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, create Free Cluster, set Network Access 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0.0.0.0/0</a:t>
            </a:r>
            <a:r>
              <a:rPr b="0" sz="1012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432869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" y="1422945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6325" y="1422945"/>
            <a:ext cx="1905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2725" y="1422945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09575"/>
            <a:ext cx="7810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42975"/>
            <a:ext cx="5581650" cy="3228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150" y="352425"/>
            <a:ext cx="4229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3. Project Folder </a:t>
            </a:r>
            <a:r>
              <a:rPr b="1" sz="2100" i="0" u="none">
                <a:solidFill>
                  <a:srgbClr val="38BDF8"/>
                </a:solidFill>
                <a:latin typeface="Space Grotesk"/>
              </a:rPr>
              <a:t>Structure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942975"/>
            <a:ext cx="5581650" cy="179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CBD5E1"/>
                </a:solidFill>
                <a:latin typeface="Inter"/>
              </a:rPr>
              <a:t>Main folder `library-system/` create chesi `client` and `server` folders organise chestam: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1104900"/>
            <a:ext cx="5260657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Terminal Commands to Initialize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7900" y="1444823"/>
            <a:ext cx="120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ReactJS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1225" y="1924794"/>
            <a:ext cx="1533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Library Management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1225" y="2084784"/>
            <a:ext cx="1266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React 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7900" y="2564755"/>
            <a:ext cx="1333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Express.js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7900" y="2724745"/>
            <a:ext cx="1733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DB Connection URI &amp;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7900" y="2884735"/>
            <a:ext cx="1400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Express Server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7900" y="3204716"/>
            <a:ext cx="120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Book Data Schema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128712"/>
            <a:ext cx="1714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7000" y="1524000"/>
            <a:ext cx="2066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1. Create Main Project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2163960"/>
            <a:ext cx="1666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2. Setup Backend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123902"/>
            <a:ext cx="3267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3. Setup Frontend Folder (in separate terminal)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09575"/>
            <a:ext cx="7810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00125"/>
            <a:ext cx="5581650" cy="4976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574006"/>
            <a:ext cx="5581650" cy="6524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302668"/>
            <a:ext cx="5581650" cy="6524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031331"/>
            <a:ext cx="5581650" cy="6524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150" y="352425"/>
            <a:ext cx="569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4. Book Model Code </a:t>
            </a:r>
            <a:r>
              <a:rPr b="1" sz="2100" i="0" u="none">
                <a:solidFill>
                  <a:srgbClr val="38BDF8"/>
                </a:solidFill>
                <a:latin typeface="Space Grotesk"/>
              </a:rPr>
              <a:t>(server/models/Book.js)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085850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500" y="10858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require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7900" y="1085850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'mongoose'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1405830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850" y="1405830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4625" y="1405830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4475" y="1885801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4475" y="2525762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4475" y="3165723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125" y="3325713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800" y="3965674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4575" y="4605635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4625" y="4605635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'Book'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075" y="1085850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const mongoose = require('mongoose');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5075" y="1257300"/>
            <a:ext cx="5314950" cy="1547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MongoDB database object modeling tool 'mongoose' ni project loki load chestundi.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5075" y="1659731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const BookSchema = new mongoose.Schema({...})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075" y="1831181"/>
            <a:ext cx="5314950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Library Book Document ki kaavalsina fields (Title, Author, ISBN, Availability Status) rules define chestundi.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5075" y="2388393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isbn: { unique: true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075" y="2559843"/>
            <a:ext cx="5314950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Duplicate book entries padakunda prathi book ki Unique ISBN number constraint enforce chestundi.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075" y="3117056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module.exports = mongoose.model('Book', BookSchema);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075" y="3288506"/>
            <a:ext cx="5314950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Ee schema structure ni Express server controllers lo CRUD operations cheyadaniki export chestundi.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09575"/>
            <a:ext cx="7810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00125"/>
            <a:ext cx="5581650" cy="4976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574006"/>
            <a:ext cx="5581650" cy="6524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302668"/>
            <a:ext cx="5581650" cy="6524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031331"/>
            <a:ext cx="5581650" cy="6524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150" y="352425"/>
            <a:ext cx="5105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5. Express Server Code </a:t>
            </a:r>
            <a:r>
              <a:rPr b="1" sz="2100" i="0" u="none">
                <a:solidFill>
                  <a:srgbClr val="38BDF8"/>
                </a:solidFill>
                <a:latin typeface="Space Grotesk"/>
              </a:rPr>
              <a:t>(server/index.js)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085850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7825" y="10858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require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1225" y="1085850"/>
            <a:ext cx="600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'express'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1245840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4500" y="124584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require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7900" y="1245840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'mongoose'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1405830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140583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require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200" y="1405830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'cors'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156582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require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1565820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'dotenv'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1175" y="1565820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1725810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800" y="172581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require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1200" y="1725810"/>
            <a:ext cx="1000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'./models/Book'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2045791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1125" y="2045791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express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2205781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7825" y="2205781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2365771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425" y="2365771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cors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1100" y="2685752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connect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025" y="3005732"/>
            <a:ext cx="120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// Fetch All Books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3165723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4425" y="3165723"/>
            <a:ext cx="800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'/api/books'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7875" y="3165723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async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375" y="3325713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7825" y="3325713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await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81250" y="3325713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find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075" y="3485703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025" y="3965674"/>
            <a:ext cx="1000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// Add New 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725" y="4125664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1100" y="4125664"/>
            <a:ext cx="800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'/api/books'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14550" y="4125664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async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375" y="4285654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1175" y="4285654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new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47875" y="4285654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Book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4375" y="4445644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await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7825" y="4445644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save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075" y="4605635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81175" y="4605635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json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7725" y="5085605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listen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47950" y="5085605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log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14650" y="5085605"/>
            <a:ext cx="1400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"LMS Backend Running"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5075" y="1085850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app.use(express.json());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5075" y="1257300"/>
            <a:ext cx="5314950" cy="1547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React Client form nunchi vachina Book JSON details request body lo read/parse chestundi.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15075" y="1659731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app.use(cors());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15075" y="1831181"/>
            <a:ext cx="5314950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Port 3000 (React) nunchi Port 5000 (Express) ki HTTP requests cross-origin restriction lekunda allow chestundi.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15075" y="2388393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mongoose.connect(process.env.MONGO_URI);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15075" y="2559843"/>
            <a:ext cx="5314950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`.env` file lo unna MongoDB Atlas cloud connection string tho Express backend ni connect chestundi.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15075" y="3117056"/>
            <a:ext cx="531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const books = await Book.find();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15075" y="3288506"/>
            <a:ext cx="5314950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MongoDB collection nunchi total Library Books catalog read chesi JSON response pampistundi.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09575"/>
            <a:ext cx="7810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1000125"/>
            <a:ext cx="5476875" cy="4976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1574006"/>
            <a:ext cx="5476875" cy="6524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2302668"/>
            <a:ext cx="5476875" cy="6524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3031331"/>
            <a:ext cx="5476875" cy="6524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150" y="352425"/>
            <a:ext cx="569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6. React Application Code </a:t>
            </a:r>
            <a:r>
              <a:rPr b="1" sz="2100" i="0" u="none">
                <a:solidFill>
                  <a:srgbClr val="38BDF8"/>
                </a:solidFill>
                <a:latin typeface="Space Grotesk"/>
              </a:rPr>
              <a:t>(client/src/App.js)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085850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4675" y="1085850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8050" y="10858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'react'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1245840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1245840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1175" y="124584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'axios'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1565820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1565820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" y="1725810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25" y="1725810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useState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1885801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7925" y="1885801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useState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8000" y="1885801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2045791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81275" y="2045791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useState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1350" y="2045791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375" y="2205781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14575" y="2205781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useState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4650" y="2205781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75" y="2525762"/>
            <a:ext cx="600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useEffect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14525" y="2525762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fetchBooks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375" y="2845742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4425" y="2845742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fetchBooks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81200" y="2845742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async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3005732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7825" y="3005732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await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7925" y="3005732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4625" y="3005732"/>
            <a:ext cx="2200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'http://localhost:5000/api/books'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3165723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setBooks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375" y="3645693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4425" y="3645693"/>
            <a:ext cx="866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handleAddBook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81225" y="3645693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async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075" y="3805683"/>
            <a:ext cx="933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preventDefault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" y="3965674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await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7825" y="3965674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81200" y="3965674"/>
            <a:ext cx="2200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'http://localhost:5000/api/books'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725" y="4125664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setTitle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47800" y="4125664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''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1175" y="4125664"/>
            <a:ext cx="600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setAuthor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47925" y="4125664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81300" y="4125664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setIsbn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4700" y="4125664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''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725" y="4285654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fetchBooks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4375" y="4765625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4925615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D19A66"/>
                </a:solidFill>
                <a:latin typeface="Fira Code"/>
              </a:rPr>
              <a:t>onSubmit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14600" y="4925615"/>
            <a:ext cx="66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750" y="5085605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D19A66"/>
                </a:solidFill>
                <a:latin typeface="Fira Code"/>
              </a:rPr>
              <a:t>value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81200" y="5085605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D19A66"/>
                </a:solidFill>
                <a:latin typeface="Fira Code"/>
              </a:rPr>
              <a:t>onChange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81325" y="5085605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1AFEF"/>
                </a:solidFill>
                <a:latin typeface="Fira Code"/>
              </a:rPr>
              <a:t>setTitle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14875" y="5085605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E06C75"/>
                </a:solidFill>
                <a:latin typeface="Fira Code"/>
              </a:rPr>
              <a:t>/&gt;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7750" y="5245596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D19A66"/>
                </a:solidFill>
                <a:latin typeface="Fira Code"/>
              </a:rPr>
              <a:t>type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81125" y="5245596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8C379"/>
                </a:solidFill>
                <a:latin typeface="Fira Code"/>
              </a:rPr>
              <a:t>"submit"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14525" y="5245596"/>
            <a:ext cx="66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19850" y="1085850"/>
            <a:ext cx="5210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const [books, setBooks] = useState([]);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9850" y="1257300"/>
            <a:ext cx="5210175" cy="1547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Database nunchi vachina Book catalog list state lo store chesi UI lo re-render chestundi.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19850" y="1659731"/>
            <a:ext cx="5210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useEffect(() =&gt; { fetchBooks(); }, []);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850" y="1831181"/>
            <a:ext cx="5210175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React UI component first time render ainappudu automatic ga Backend GET API call chestundi.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850" y="2388393"/>
            <a:ext cx="5210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e.preventDefault();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9850" y="2559843"/>
            <a:ext cx="5210175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Book details add chesinappudu page re-load avvakunda single page application experience isthundi.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19850" y="3117056"/>
            <a:ext cx="5210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Fira Code SemiBold"/>
              </a:rPr>
              <a:t>await axios.post('http://localhost:5000/api/books', {...});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19850" y="3288506"/>
            <a:ext cx="5210175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b="0" sz="937" i="0" u="none">
                <a:solidFill>
                  <a:srgbClr val="CBD5E1"/>
                </a:solidFill>
                <a:latin typeface="Inter"/>
              </a:rPr>
              <a:t>Student add chesina New Book Title, Author, ISBN data ni Express backend dwara Cloud DB lo save chestundi.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09575"/>
            <a:ext cx="7810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3445966"/>
            <a:ext cx="113157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942975"/>
            <a:ext cx="5581650" cy="24077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42975"/>
            <a:ext cx="5581650" cy="24077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150" y="352425"/>
            <a:ext cx="4695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7. Local Testing &amp; </a:t>
            </a:r>
            <a:r>
              <a:rPr b="1" sz="2100" i="0" u="none">
                <a:solidFill>
                  <a:srgbClr val="38BDF8"/>
                </a:solidFill>
                <a:latin typeface="Space Grotesk"/>
              </a:rPr>
              <a:t>Output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41216"/>
            <a:ext cx="942975" cy="1524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Inter"/>
              </a:rPr>
              <a:t>Local Result: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1104900"/>
            <a:ext cx="532066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Step 1: Start Backend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203995"/>
            <a:ext cx="5260657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Step 2: Start Frontend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1104900"/>
            <a:ext cx="528066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Output Verification Checklist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560266"/>
            <a:ext cx="12382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128712"/>
            <a:ext cx="1143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2950" y="1843980"/>
            <a:ext cx="34004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Terminal Output: LMS Backend Running on Port 5000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" y="2227808"/>
            <a:ext cx="1714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2950" y="2943076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64748B"/>
                </a:solidFill>
                <a:latin typeface="Fira Code"/>
              </a:rPr>
              <a:t># Opens http://localhost:3000 in browser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1128712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86525" y="1419225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1. Open 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http://localhost:3000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 in Chrome.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1643508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2. Enter Book Title: "Clean Code", Author: "Robert Martin", ISBN: "9780132350884".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1867792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3. Click **Add Book** button.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2092076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4. New Book immediate ga Screen pyna Table List lo kanipisthundi.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2316360"/>
            <a:ext cx="5105400" cy="3342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5. MongoDB Atlas Cluster dashboard open chesi Document save aindhi lenidhi verify cheyandi!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4125" y="14192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4125" y="1643508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4125" y="1867792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4125" y="209207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4125" y="2316360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09575"/>
            <a:ext cx="7810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942975"/>
            <a:ext cx="5581650" cy="25986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42975"/>
            <a:ext cx="5581650" cy="25986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2328713"/>
            <a:ext cx="5257800" cy="504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150" y="352425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8. Backend Cloud Deployment </a:t>
            </a:r>
            <a:r>
              <a:rPr b="1" sz="2100" i="0" u="none">
                <a:solidFill>
                  <a:srgbClr val="38BDF8"/>
                </a:solidFill>
                <a:latin typeface="Space Grotesk"/>
              </a:rPr>
              <a:t>(Render)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1104900"/>
            <a:ext cx="528066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 Step 1: Push Project to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187326"/>
            <a:ext cx="524065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Step 2: Setup Service on 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1104900"/>
            <a:ext cx="528066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Step 3: Add Environment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1381125"/>
            <a:ext cx="5257800" cy="179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CBD5E1"/>
                </a:solidFill>
                <a:latin typeface="Inter"/>
              </a:rPr>
              <a:t>Render Dashboard lo Environment Section lo credentials setup cheyandi: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1128712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2475" y="1419225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Create new Repository on GitHub.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1643508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Ensure `.env` file is inside `.gitignore`.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1867792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Push `server/` code to GitHub repository.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2211139"/>
            <a:ext cx="1905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2475" y="2501651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Login to 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render.com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 &amp; click **New Web Service**.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2725935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Set Root Directory: 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2950219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Set Build Command: 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npm install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75" y="3174503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Set Start Command: 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node index.js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1128712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05575" y="2423963"/>
            <a:ext cx="1381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Inter"/>
              </a:rPr>
              <a:t>Live Backend API URL: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75" y="14192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75" y="1643508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" y="1867792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075" y="2501651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075" y="272593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075" y="2950219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075" y="3174503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09575"/>
            <a:ext cx="7810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942975"/>
            <a:ext cx="5581650" cy="2346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42975"/>
            <a:ext cx="5581650" cy="2346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2402085"/>
            <a:ext cx="52578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150" y="352425"/>
            <a:ext cx="4876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9. Frontend Deployment &amp; </a:t>
            </a:r>
            <a:r>
              <a:rPr b="1" sz="2100" i="0" u="none">
                <a:solidFill>
                  <a:srgbClr val="38BDF8"/>
                </a:solidFill>
                <a:latin typeface="Space Grotesk"/>
              </a:rPr>
              <a:t>Live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1104900"/>
            <a:ext cx="528066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Vercel Deployment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1104900"/>
            <a:ext cx="528066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Space Grotesk SemiBold"/>
              </a:rPr>
              <a:t>Live Production Verification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1128712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475" y="1419225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1. Open 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vercel.com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 and Sign in with GitHub.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1643508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2. Select GitHub Library Project repository.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1867792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3. Set **Root Directory** as 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client</a:t>
            </a:r>
            <a:r>
              <a:rPr b="0" sz="975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092076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4. Add Environment Variable: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2922091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5. Click **Deploy**!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1128712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86525" y="1419225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Vercel nunchi vachina Live Website URL open cheyandi.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1643508"/>
            <a:ext cx="5105400" cy="167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New Book Title &amp; Author add chesi submit kottandi.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1867792"/>
            <a:ext cx="5105400" cy="3342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Data live MongoDB Cloud DB lo store aiyi instantly reload lekunda catalog update avuthundi!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5112" y="2497335"/>
            <a:ext cx="1209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Inter"/>
              </a:rPr>
              <a:t>🎉 Congratulations!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075" y="14192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075" y="1643508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75" y="1867792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75" y="209207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" y="2922091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4125" y="14192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4125" y="1643508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1867792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1" sz="975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085850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3525" y="1106834"/>
            <a:ext cx="102203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https://cdn.dribbble.com/userupload/45536564/file/7ec6f536b0ec9b4e6d5f9ae11302a57a.png?format=webp&amp;resize=400x300&amp;vertical=center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3525" y="1327695"/>
            <a:ext cx="1022032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352425"/>
            <a:ext cx="117538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150" y="771525"/>
            <a:ext cx="113157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