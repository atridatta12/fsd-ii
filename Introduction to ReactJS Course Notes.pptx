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912" y="3753296"/>
            <a:ext cx="4448175" cy="781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0606" y="2323653"/>
            <a:ext cx="6290786" cy="591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1" i="0" u="none">
                <a:solidFill>
                  <a:srgbClr val="F8FAFC"/>
                </a:solidFill>
                <a:latin typeface="Space Grotesk"/>
              </a:rPr>
              <a:t>Introduction to </a:t>
            </a:r>
            <a:r>
              <a:rPr sz="4050" b="1" i="0" u="none">
                <a:solidFill>
                  <a:srgbClr val="38BDF8"/>
                </a:solidFill>
                <a:latin typeface="Space Grotesk"/>
              </a:rPr>
              <a:t>ReactJS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8500" y="3057971"/>
            <a:ext cx="5715000" cy="2650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endParaRPr sz="15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00612" y="3934271"/>
            <a:ext cx="2390775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350" b="1" i="0" u="none" dirty="0" smtClean="0">
                <a:solidFill>
                  <a:srgbClr val="38BDF8"/>
                </a:solidFill>
                <a:latin typeface="Inter"/>
              </a:rPr>
              <a:t>L. ATRI DATTA RAVI TEZ</a:t>
            </a:r>
            <a:endParaRPr sz="1350" b="1" i="0" u="none" dirty="0">
              <a:solidFill>
                <a:srgbClr val="38BDF8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24337" y="4191446"/>
            <a:ext cx="37433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050" b="0" i="0" u="none" dirty="0" smtClean="0">
                <a:solidFill>
                  <a:srgbClr val="CBD5E1"/>
                </a:solidFill>
                <a:latin typeface="Inter"/>
              </a:rPr>
              <a:t>Assistant Professor &amp; Web Admin</a:t>
            </a:r>
            <a:endParaRPr sz="1050" b="0" i="0" u="none" dirty="0">
              <a:solidFill>
                <a:srgbClr val="CBD5E1"/>
              </a:solidFill>
              <a:latin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8025" y="447675"/>
            <a:ext cx="8382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104900"/>
            <a:ext cx="11220450" cy="1476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2733675"/>
            <a:ext cx="3638550" cy="292744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6725" y="2733675"/>
            <a:ext cx="3638550" cy="292744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675" y="2733675"/>
            <a:ext cx="3638550" cy="29274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390525"/>
            <a:ext cx="39147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Inter"/>
              </a:rPr>
              <a:t>1. Introduction to React 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3975"/>
            <a:ext cx="1082040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React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is a JavaScript library used to build user interfaces, especially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Single Page Applications (SPAs)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7343"/>
            <a:ext cx="1082040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It was developed and maintained by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Facebook (now Meta)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90712"/>
            <a:ext cx="1082040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It helps us to create large web applications that can change data, without reloading the page.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74081"/>
            <a:ext cx="1082040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It is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fast, scalable, and component-based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" y="2933700"/>
            <a:ext cx="313039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Important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2975" y="2933700"/>
            <a:ext cx="3110388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Uses of React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3925" y="2933700"/>
            <a:ext cx="3110388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Key Features Overview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962275"/>
            <a:ext cx="180975" cy="180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7250" y="3324225"/>
            <a:ext cx="306705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Library: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React is a library, not a framework.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3587055"/>
            <a:ext cx="306705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Developer: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Facebook (Meta)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3849885"/>
            <a:ext cx="306705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Language: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JavaScript (ES6+)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4112716"/>
            <a:ext cx="306705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Purpose: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Build User Interfaces (UI)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4375546"/>
            <a:ext cx="306705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Architecture: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Component-Based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6750" y="2962275"/>
            <a:ext cx="200025" cy="1809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48200" y="3324225"/>
            <a:ext cx="306705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Single Page Applications (SPA)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8200" y="3587055"/>
            <a:ext cx="306705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Dynamic Web Applications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8200" y="3849885"/>
            <a:ext cx="306705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Mobile Applications (React Native)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8200" y="4112716"/>
            <a:ext cx="306705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Desktop Applications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8200" y="4375546"/>
            <a:ext cx="306705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Server Side Rendering (Next.js)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7700" y="2962275"/>
            <a:ext cx="200025" cy="1809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39150" y="3324225"/>
            <a:ext cx="30670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Component Based: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UI divided into small components.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150" y="3773685"/>
            <a:ext cx="30670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Reusable Components: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Write once, use anywhere.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150" y="4223146"/>
            <a:ext cx="306705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Virtual DOM: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Improves rendering performance.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9150" y="4485977"/>
            <a:ext cx="30670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One Way Data Binding: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Data flows in one direction.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150" y="4935438"/>
            <a:ext cx="306705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JSX: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HTML-like syntax inside JavaScript.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150" y="5198268"/>
            <a:ext cx="306705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Easy to Learn: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Simple and beginner friendly.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324225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587055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3849885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112716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375546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76750" y="3324225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76750" y="3587055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76750" y="3849885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6750" y="4112716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76750" y="4375546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7700" y="3324225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7700" y="3773685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7700" y="4223146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67700" y="4485977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7700" y="4935438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7700" y="5198268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8025" y="447675"/>
            <a:ext cx="8382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5628382"/>
            <a:ext cx="11220450" cy="409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533525"/>
            <a:ext cx="1521172" cy="948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2197" y="1533525"/>
            <a:ext cx="1521321" cy="948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8768" y="1533525"/>
            <a:ext cx="1521321" cy="94833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5339" y="1533525"/>
            <a:ext cx="1521172" cy="94833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1761" y="1533525"/>
            <a:ext cx="1521321" cy="94833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8332" y="1533525"/>
            <a:ext cx="1521321" cy="94833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4903" y="1533525"/>
            <a:ext cx="1521172" cy="94833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2967632"/>
            <a:ext cx="5514975" cy="2517874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0" y="2967632"/>
            <a:ext cx="5514975" cy="25178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5775" y="390525"/>
            <a:ext cx="44577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Inter"/>
              </a:rPr>
              <a:t>2. History of React &amp;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1104900"/>
            <a:ext cx="1144905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History of React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" y="2634257"/>
            <a:ext cx="11401425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Core Features of React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775" y="1133475"/>
            <a:ext cx="180975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775" y="2662832"/>
            <a:ext cx="228600" cy="1809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5325" y="5742682"/>
            <a:ext cx="5905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FAFC"/>
                </a:solidFill>
                <a:latin typeface="Inter"/>
              </a:rPr>
              <a:t>In Short: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1657350"/>
            <a:ext cx="127352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Space Grotesk"/>
              </a:rPr>
              <a:t>2011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1895475"/>
            <a:ext cx="1273522" cy="4625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4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First developed by Jordan Walke at Facebook.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26022" y="1657350"/>
            <a:ext cx="127367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Space Grotesk"/>
              </a:rPr>
              <a:t>2012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26022" y="1895475"/>
            <a:ext cx="1273671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4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Used in Facebook's Newsfeed.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2593" y="1657350"/>
            <a:ext cx="127367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Space Grotesk"/>
              </a:rPr>
              <a:t>2013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2593" y="1895475"/>
            <a:ext cx="1273671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4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Open sourced at JSConf US.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9164" y="1657350"/>
            <a:ext cx="127352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Space Grotesk"/>
              </a:rPr>
              <a:t>2015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9164" y="1895475"/>
            <a:ext cx="1273522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4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Introduction of React Native.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5586" y="1657350"/>
            <a:ext cx="127367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Space Grotesk"/>
              </a:rPr>
              <a:t>2017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5586" y="1895475"/>
            <a:ext cx="1273671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4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React Fiber performance update.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92157" y="1657350"/>
            <a:ext cx="127367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Space Grotesk"/>
              </a:rPr>
              <a:t>2020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92157" y="1895475"/>
            <a:ext cx="1273671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4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Hooks introduced in React 16.8.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08728" y="1657350"/>
            <a:ext cx="127352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Space Grotesk"/>
              </a:rPr>
              <a:t>Present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08728" y="1895475"/>
            <a:ext cx="1273522" cy="154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4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Most popular UI library.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250" y="3224807"/>
            <a:ext cx="49434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Component Based Architecture: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Build encapsulated components that manage their own state.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250" y="3674268"/>
            <a:ext cx="49434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Reusable Components: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Components can be reused in different parts of an application.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250" y="4123729"/>
            <a:ext cx="49434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Virtual DOM: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React uses Virtual DOM which makes the application fast and efficient.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250" y="4573190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JSX (JavaScript XML):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Allows HTML-like syntax in JavaScript.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250" y="4836021"/>
            <a:ext cx="49434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One Way Data Binding: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Data flows in one direction which makes the app more predictable.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2725" y="3224807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High Performance: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Virtual DOM and efficient rendering make React very fast.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2725" y="3487638"/>
            <a:ext cx="49434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Easy to Learn: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Simple concepts and good documentation make it easy for beginners.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2725" y="3937099"/>
            <a:ext cx="49434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Large Community Support: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Huge developer community and rich collection of resources.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2725" y="4386560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Cross Platform: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Use React Native to build mobile apps for Android &amp; iOS.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2725" y="4649390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SEO Friendly: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Server Side Rendering (Next.js) improves SEO.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3224807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3674268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4123729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457319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4836021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91275" y="3224807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91275" y="3487638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91275" y="3937099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91275" y="438656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91275" y="464939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8025" y="447675"/>
            <a:ext cx="8382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104900"/>
            <a:ext cx="5514975" cy="29122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104900"/>
            <a:ext cx="5514975" cy="29122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390525"/>
            <a:ext cx="47625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Inter"/>
              </a:rPr>
              <a:t>3. Advantages &amp; Disadvantages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2975" y="1323975"/>
            <a:ext cx="5100637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22C55E"/>
                </a:solidFill>
                <a:latin typeface="Space Grotesk SemiBold"/>
              </a:rPr>
              <a:t>Advantages of 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8450" y="1323975"/>
            <a:ext cx="5100637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EF4444"/>
                </a:solidFill>
                <a:latin typeface="Space Grotesk SemiBold"/>
              </a:rPr>
              <a:t>Disadvantages of React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352550"/>
            <a:ext cx="180975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7250" y="1714500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1. Components Reusability: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Build once, use anywhere.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1977330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2. Virtual DOM: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Improves performance and makes UI updates faster.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2240160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3. One Way Data Binding: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Easy to understand and debug.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2502991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4. Huge Community Support: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Lots of documentation, libraries, and resources.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2765821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5. SEO Friendly: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With Server Side Rendering (Next.js).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3028652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6. Cross Platform: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Use React Native to build mobile apps.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3291482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7. Easy to Learn: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Simple concepts and beginner friendly.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3554313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8. Strong Tooling: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React DevTools, Vite, Create React App, etc.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275" y="1352550"/>
            <a:ext cx="180975" cy="1809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62725" y="1714500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• Frequent Updates: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New updates are released frequently.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1977330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• JSX Learning Curve: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JSX can be confusing for beginners initially.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2240160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• Requires Good JS Base: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Requires solid knowledge of JavaScript (ES6+).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725" y="2502991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• Too Many Choices: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Many libraries and tools can be confusing.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725" y="2765821"/>
            <a:ext cx="49434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• Not a Complete Framework: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Need to use additional libraries for routing, state management, etc.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2725" y="3215282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• High Pace of Changes: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Hard to keep up with evolving ecosystem.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71450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97733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24016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502991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765821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028652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291482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554313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275" y="171450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275" y="197733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1275" y="224016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275" y="2502991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1275" y="2765821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275" y="3215282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825" y="447675"/>
            <a:ext cx="16764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464468"/>
            <a:ext cx="11220450" cy="2362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4017168"/>
            <a:ext cx="11220450" cy="12430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390525"/>
            <a:ext cx="74390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Inter"/>
              </a:rPr>
              <a:t>Framework Comparison: React vs Angular vs Vue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75" y="1104900"/>
            <a:ext cx="1122045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A side-by-side comparison of top frontend technologies: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5300" y="1473993"/>
          <a:ext cx="11201398" cy="2343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0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7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73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React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Angular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Vue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73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Inter"/>
                        </a:rPr>
                        <a:t>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JavaScript Library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Full Framework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Progressive Framework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3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Inter"/>
                        </a:rPr>
                        <a:t>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Small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Large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73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Inter"/>
                        </a:rPr>
                        <a:t>Learning Curve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Easy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Difficult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Easy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73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Inter"/>
                        </a:rPr>
                        <a:t>Performance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High (Virtual DOM)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Moderate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73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Inter"/>
                        </a:rPr>
                        <a:t>Flexibility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74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Inter"/>
                        </a:rPr>
                        <a:t>Best For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SPAs, Web &amp; Mobile Apps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Enterprise Applications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SPAs &amp; Small Apps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95350" y="4236243"/>
            <a:ext cx="1114139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Summary for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69618"/>
            <a:ext cx="108204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React gives developers full flexibility to select their ecosystem tools while delivering high UI performance via Virtual DOM. Angular is a structured enterprise framework, while Vue offers a balanced progressive approach.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264818"/>
            <a:ext cx="133350" cy="1809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95300" y="2145506"/>
            <a:ext cx="215726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52563" y="2145506"/>
            <a:ext cx="31861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38676" y="2145506"/>
            <a:ext cx="287074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709421" y="2145506"/>
            <a:ext cx="298727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5300" y="2478881"/>
            <a:ext cx="215726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52563" y="2478881"/>
            <a:ext cx="31861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38676" y="2478881"/>
            <a:ext cx="287074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09421" y="2478881"/>
            <a:ext cx="298727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5300" y="2812256"/>
            <a:ext cx="215726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52563" y="2812256"/>
            <a:ext cx="31861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38676" y="2812256"/>
            <a:ext cx="287074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709421" y="2812256"/>
            <a:ext cx="298727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5300" y="3145631"/>
            <a:ext cx="215726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652563" y="3145631"/>
            <a:ext cx="31861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38676" y="3145631"/>
            <a:ext cx="287074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709421" y="3145631"/>
            <a:ext cx="298727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5300" y="3479006"/>
            <a:ext cx="215726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652563" y="3479006"/>
            <a:ext cx="318611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38676" y="3479006"/>
            <a:ext cx="287074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709421" y="3479006"/>
            <a:ext cx="298727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8025" y="447675"/>
            <a:ext cx="8382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737967"/>
            <a:ext cx="11220450" cy="2362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104900"/>
            <a:ext cx="5514975" cy="20901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1104900"/>
            <a:ext cx="5514975" cy="209014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275" y="1781175"/>
            <a:ext cx="1050131" cy="54232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6206" y="1781175"/>
            <a:ext cx="1050131" cy="542329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1137" y="1781175"/>
            <a:ext cx="1050131" cy="542329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56068" y="1781175"/>
            <a:ext cx="1050131" cy="5423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5775" y="390525"/>
            <a:ext cx="49530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Inter"/>
              </a:rPr>
              <a:t>4. SPA, Real DOM vs Virtual 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3328392"/>
            <a:ext cx="1144905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Real DOM vs Virtual DOM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775" y="3356967"/>
            <a:ext cx="180975" cy="180975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95300" y="3747492"/>
          <a:ext cx="11201399" cy="2343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6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73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Real DOM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Virtual DOM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73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Real DOM is the actual DOM.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Virtual DOM is a lightweight copy of Real DOM.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3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Every time any changes happen, the entire DOM is updated.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When changes occur, only the changed part is updated in Real DOM.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73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Directly updates the UI.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It first updates Virtual DOM.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73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Slow and less efficient.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Fast and more efficient.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73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More memory is used.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Less memory is used.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740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Examples: Plain JavaScript, jQuery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Used in React 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95350" y="1304925"/>
            <a:ext cx="5150643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Single Page Application (SPA)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638300"/>
            <a:ext cx="51149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An SPA loads a single HTML page and dynamically updates the content as the user interacts with the app,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without reloading the entire page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128837"/>
            <a:ext cx="51149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Features of SPA: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8450" y="1304925"/>
            <a:ext cx="5100637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How SPA Works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1333500"/>
            <a:ext cx="133350" cy="1809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7250" y="2469356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Faster user experience &amp; smooth navigation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2732186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No page reloads &amp; dynamic data loading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1275" y="1333500"/>
            <a:ext cx="180975" cy="1809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17606" y="1957089"/>
            <a:ext cx="152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2537" y="1957089"/>
            <a:ext cx="152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7468" y="1957089"/>
            <a:ext cx="152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5300" y="4419004"/>
            <a:ext cx="5245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40300" y="4419004"/>
            <a:ext cx="59563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5300" y="4752379"/>
            <a:ext cx="5245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40300" y="4752379"/>
            <a:ext cx="59563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5300" y="5085754"/>
            <a:ext cx="5245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40300" y="5085754"/>
            <a:ext cx="59563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95300" y="5419129"/>
            <a:ext cx="5245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740300" y="5419129"/>
            <a:ext cx="59563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95300" y="5752504"/>
            <a:ext cx="5245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40300" y="5752504"/>
            <a:ext cx="59563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2469356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732186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5037" y="1885950"/>
            <a:ext cx="84260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8FAFC"/>
                </a:solidFill>
                <a:latin typeface="Inter"/>
              </a:rPr>
              <a:t>User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5100" y="2066925"/>
            <a:ext cx="802481" cy="15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Sends Request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9969" y="1885950"/>
            <a:ext cx="84260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8FAFC"/>
                </a:solidFill>
                <a:latin typeface="Inter"/>
              </a:rPr>
              <a:t>Single HTML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70031" y="2066925"/>
            <a:ext cx="802481" cy="15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index.html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4900" y="1885950"/>
            <a:ext cx="84260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8FAFC"/>
                </a:solidFill>
                <a:latin typeface="Inter"/>
              </a:rPr>
              <a:t>React JS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24962" y="2066925"/>
            <a:ext cx="802481" cy="15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JS Execution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59831" y="1885950"/>
            <a:ext cx="84260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8FAFC"/>
                </a:solidFill>
                <a:latin typeface="Inter"/>
              </a:rPr>
              <a:t>Update UI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79893" y="2066925"/>
            <a:ext cx="802481" cy="15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No Reload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8025" y="447675"/>
            <a:ext cx="8382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104900"/>
            <a:ext cx="5514975" cy="40555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104900"/>
            <a:ext cx="5514975" cy="405556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319337"/>
            <a:ext cx="1050131" cy="390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0731" y="2243435"/>
            <a:ext cx="1050131" cy="54232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5662" y="2319337"/>
            <a:ext cx="1050131" cy="390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0593" y="2243137"/>
            <a:ext cx="1050131" cy="5429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775" y="390525"/>
            <a:ext cx="47910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Inter"/>
              </a:rPr>
              <a:t>5. React Architecture &amp; Working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1304925"/>
            <a:ext cx="5080635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React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638300"/>
            <a:ext cx="51149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React uses a component-based architecture where UI is built using reusable components.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95612"/>
            <a:ext cx="51149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Key Parts Explained: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8450" y="1304925"/>
            <a:ext cx="5100637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How React Works (6 Steps)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0" y="3386732"/>
            <a:ext cx="5080635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Component Hierarchy Example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1333500"/>
            <a:ext cx="200025" cy="180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12131" y="2419350"/>
            <a:ext cx="152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7062" y="2419350"/>
            <a:ext cx="152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993" y="2419350"/>
            <a:ext cx="152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3336131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UI (View):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What user sees.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3598961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Components: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Building blocks of UI.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3861792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State: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Data that can change dynamically.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4124622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Props: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Data passed from parent component to child.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4387453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React DOM: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Updates and manages the DOM.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" y="4650283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Browser DOM: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Real DOM rendered in browser.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275" y="1333500"/>
            <a:ext cx="180975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62725" y="1695450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1. User Interacts: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User clicks a button or types input.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2725" y="1958280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2. State/Props Change: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Component data updates.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2725" y="2221110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3. Component Re-render: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React re-renders affected components.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2725" y="2483941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4. Virtual DOM Compare: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Diffs changes with previous snapshot.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2725" y="2746771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5. Selective Patch: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Updates </a:t>
            </a:r>
            <a:r>
              <a:rPr sz="1050" b="0" i="1" u="none">
                <a:solidFill>
                  <a:srgbClr val="CBD5E1"/>
                </a:solidFill>
                <a:latin typeface="Inter"/>
              </a:rPr>
              <a:t>only changed parts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in Real DOM.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2725" y="3009602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Inter"/>
              </a:rPr>
              <a:t>6. UI Display: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Browser displays updated UI smoothly.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275" y="3415307"/>
            <a:ext cx="200025" cy="1809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34150" y="3920132"/>
            <a:ext cx="1524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1" u="none">
                <a:solidFill>
                  <a:srgbClr val="64748B"/>
                </a:solidFill>
                <a:latin typeface="Fira Code"/>
              </a:rPr>
              <a:t>App (Root Component)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5150" y="4099619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61AFEF"/>
                </a:solidFill>
                <a:latin typeface="Fira Code"/>
              </a:rPr>
              <a:t>Header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15150" y="4279106"/>
            <a:ext cx="304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61AFEF"/>
                </a:solidFill>
                <a:latin typeface="Fira Code"/>
              </a:rPr>
              <a:t>Main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96150" y="4458592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8C379"/>
                </a:solidFill>
                <a:latin typeface="Fira Code"/>
              </a:rPr>
              <a:t>Sidebar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58150" y="4458592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8C379"/>
                </a:solidFill>
                <a:latin typeface="Fira Code"/>
              </a:rPr>
              <a:t>Content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0150" y="4458592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8C379"/>
                </a:solidFill>
                <a:latin typeface="Fira Code"/>
              </a:rPr>
              <a:t>Widgets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15150" y="4638079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61AFEF"/>
                </a:solidFill>
                <a:latin typeface="Fira Code"/>
              </a:rPr>
              <a:t>Footer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562" y="2424112"/>
            <a:ext cx="84260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8FAFC"/>
                </a:solidFill>
                <a:latin typeface="Inter"/>
              </a:rPr>
              <a:t>UI (View)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44494" y="2348210"/>
            <a:ext cx="84260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8FAFC"/>
                </a:solidFill>
                <a:latin typeface="Inter"/>
              </a:rPr>
              <a:t>Components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64556" y="2529185"/>
            <a:ext cx="802481" cy="15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State &amp; Props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99425" y="2424112"/>
            <a:ext cx="84260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8FAFC"/>
                </a:solidFill>
                <a:latin typeface="Inter"/>
              </a:rPr>
              <a:t>React DOM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54356" y="2347912"/>
            <a:ext cx="84260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8FAFC"/>
                </a:solidFill>
                <a:latin typeface="Inter"/>
              </a:rPr>
              <a:t>Browser DOM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3336131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3598961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3861792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124622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387453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4650283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91275" y="169545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91275" y="195828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91275" y="222111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91275" y="2483941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91275" y="2746771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91275" y="3009602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8025" y="447675"/>
            <a:ext cx="8382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104900"/>
            <a:ext cx="3638550" cy="1790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6725" y="1104900"/>
            <a:ext cx="3638550" cy="1790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675" y="1104900"/>
            <a:ext cx="3638550" cy="1790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3028950"/>
            <a:ext cx="5514975" cy="27482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3028950"/>
            <a:ext cx="5514975" cy="27482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3638550"/>
            <a:ext cx="5114925" cy="15525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775" y="390525"/>
            <a:ext cx="47148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Inter"/>
              </a:rPr>
              <a:t>6. Installing Node.js, npm &amp; npx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1304925"/>
            <a:ext cx="3150393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 Node.js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638300"/>
            <a:ext cx="32385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JS runtime environment allowing code execution outside browser.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28837"/>
            <a:ext cx="323850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React is built using Node.js.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12206"/>
            <a:ext cx="323850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Comes pre-packaged with npm.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1550" y="1304925"/>
            <a:ext cx="3080385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npm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6750" y="1638300"/>
            <a:ext cx="323850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Default package manager for Node.js.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6750" y="1921668"/>
            <a:ext cx="32385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Installs, manages, and shares JavaScript libraries &amp; packages.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6750" y="2412206"/>
            <a:ext cx="323850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Included automatically with Node.js.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3925" y="1304925"/>
            <a:ext cx="3110388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npx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7700" y="1638300"/>
            <a:ext cx="3238500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Package executor tool included with npm (5.2+).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7700" y="2128837"/>
            <a:ext cx="323850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Executes packages without global installation.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7700" y="2412206"/>
            <a:ext cx="323850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Example: npx create-react-app my-app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975" y="3228975"/>
            <a:ext cx="5100637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Steps to Install Node.js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562350"/>
            <a:ext cx="51149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1. Go to official website: https://nodejs.org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845718"/>
            <a:ext cx="51149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2. Download the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LTS (Recommended)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version.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29087"/>
            <a:ext cx="51149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3. Run installer and follow prompts.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412456"/>
            <a:ext cx="51149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4. Verify installation in Terminal / Command Prompt: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8450" y="3228975"/>
            <a:ext cx="5100637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Command Purpose Summary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1333500"/>
            <a:ext cx="161925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6750" y="1333500"/>
            <a:ext cx="228600" cy="1809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7700" y="1333500"/>
            <a:ext cx="200025" cy="1809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257550"/>
            <a:ext cx="180975" cy="18097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590675" y="4895850"/>
            <a:ext cx="1752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1" u="none">
                <a:solidFill>
                  <a:srgbClr val="64748B"/>
                </a:solidFill>
                <a:latin typeface="Fira Code"/>
              </a:rPr>
              <a:t># -&gt; v20.14.0 (example)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90675" y="5075336"/>
            <a:ext cx="838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1" u="none">
                <a:solidFill>
                  <a:srgbClr val="64748B"/>
                </a:solidFill>
                <a:latin typeface="Fira Code"/>
              </a:rPr>
              <a:t># -&gt; 10.7.0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90675" y="5254823"/>
            <a:ext cx="838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1" u="none">
                <a:solidFill>
                  <a:srgbClr val="64748B"/>
                </a:solidFill>
                <a:latin typeface="Fira Code"/>
              </a:rPr>
              <a:t># -&gt; 10.7.0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1275" y="3257550"/>
            <a:ext cx="180975" cy="180975"/>
          </a:xfrm>
          <a:prstGeom prst="rect">
            <a:avLst/>
          </a:prstGeom>
        </p:spPr>
      </p:pic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400800" y="3648075"/>
          <a:ext cx="5095874" cy="1533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4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5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381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Command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Example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381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node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Runs JS files using runtime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node app.js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381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npm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Installs and manages packages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npm install react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382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npx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Executes packages without global install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npx create-react-app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Rectangle 37"/>
          <p:cNvSpPr/>
          <p:nvPr/>
        </p:nvSpPr>
        <p:spPr>
          <a:xfrm>
            <a:off x="6400800" y="4329112"/>
            <a:ext cx="8953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296150" y="4329112"/>
            <a:ext cx="253469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830841" y="4329112"/>
            <a:ext cx="166583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0" y="4672012"/>
            <a:ext cx="8953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296150" y="4672012"/>
            <a:ext cx="253469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830841" y="4672012"/>
            <a:ext cx="166583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8025" y="447675"/>
            <a:ext cx="8382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104900"/>
            <a:ext cx="5514975" cy="23880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104900"/>
            <a:ext cx="5514975" cy="23880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3626346"/>
            <a:ext cx="5514975" cy="272028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3626346"/>
            <a:ext cx="5514975" cy="272028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275" y="4235946"/>
            <a:ext cx="5114925" cy="1733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390525"/>
            <a:ext cx="55435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Inter"/>
              </a:rPr>
              <a:t>7. VS Code Setup &amp; Create React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1304925"/>
            <a:ext cx="505063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VS Code Extensions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38300"/>
            <a:ext cx="51149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Recommended extensions for React development: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8450" y="1304925"/>
            <a:ext cx="5100637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Create React App (CRA)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275" y="1638300"/>
            <a:ext cx="51149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1. Open terminal in VS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1921668"/>
            <a:ext cx="51149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2. Run command: npx create-react-app my-app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2205037"/>
            <a:ext cx="51149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3. Wait for installation to finish.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2488406"/>
            <a:ext cx="51149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4. Go to folder: cd my-app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2771775"/>
            <a:ext cx="51149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5. Start dev server: npm start (Runs at http://localhost:3000)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975" y="3826371"/>
            <a:ext cx="5100637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Folder Structure (my-app)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8450" y="3826371"/>
            <a:ext cx="5100637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Key Files Explained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333500"/>
            <a:ext cx="228600" cy="1809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7250" y="1978818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1. ES7+ React/Redux/React-Native snippets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2241649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2. Prettier - Code formatter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2504479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3. Auto Rename Tag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2767310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4. Bracket Pair Colorizer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" y="3030140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5. Live Server (Optional)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275" y="1333500"/>
            <a:ext cx="180975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869233"/>
            <a:ext cx="180975" cy="18097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352675" y="4567832"/>
            <a:ext cx="2133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1" u="none">
                <a:solidFill>
                  <a:srgbClr val="64748B"/>
                </a:solidFill>
                <a:latin typeface="Fira Code"/>
              </a:rPr>
              <a:t># All installed dependencies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52675" y="4747319"/>
            <a:ext cx="2057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1" u="none">
                <a:solidFill>
                  <a:srgbClr val="64748B"/>
                </a:solidFill>
                <a:latin typeface="Fira Code"/>
              </a:rPr>
              <a:t># Static files (index.html)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52675" y="4926806"/>
            <a:ext cx="1524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1" u="none">
                <a:solidFill>
                  <a:srgbClr val="64748B"/>
                </a:solidFill>
                <a:latin typeface="Fira Code"/>
              </a:rPr>
              <a:t># Source code folder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52675" y="5106292"/>
            <a:ext cx="1524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1" u="none">
                <a:solidFill>
                  <a:srgbClr val="64748B"/>
                </a:solidFill>
                <a:latin typeface="Fira Code"/>
              </a:rPr>
              <a:t># Main App component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52675" y="5285779"/>
            <a:ext cx="1524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1" u="none">
                <a:solidFill>
                  <a:srgbClr val="64748B"/>
                </a:solidFill>
                <a:latin typeface="Fira Code"/>
              </a:rPr>
              <a:t># Entry point of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52675" y="5465266"/>
            <a:ext cx="1524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1" u="none">
                <a:solidFill>
                  <a:srgbClr val="64748B"/>
                </a:solidFill>
                <a:latin typeface="Fira Code"/>
              </a:rPr>
              <a:t># Styling stylesheet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52675" y="5644753"/>
            <a:ext cx="2133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1" u="none">
                <a:solidFill>
                  <a:srgbClr val="64748B"/>
                </a:solidFill>
                <a:latin typeface="Fira Code"/>
              </a:rPr>
              <a:t># Project metadata &amp; scripts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52675" y="5824239"/>
            <a:ext cx="1143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1" u="none">
                <a:solidFill>
                  <a:srgbClr val="64748B"/>
                </a:solidFill>
                <a:latin typeface="Fira Code"/>
              </a:rPr>
              <a:t># Documentation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275" y="3854946"/>
            <a:ext cx="180975" cy="180975"/>
          </a:xfrm>
          <a:prstGeom prst="rect">
            <a:avLst/>
          </a:prstGeom>
        </p:spPr>
      </p:pic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400800" y="4245471"/>
          <a:ext cx="5095874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File / Folder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public/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Contains index.html and static assets.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src/App.js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Main application component.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src/index.js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Entry point. Renders  into DOM.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package.json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Contains project metadata &amp; dependencies.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685800" y="1978818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2241649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2504479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276731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303014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26508"/>
            <a:ext cx="149944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900243" y="4926508"/>
            <a:ext cx="359643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00800" y="5269408"/>
            <a:ext cx="149944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900243" y="5269408"/>
            <a:ext cx="359643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00800" y="5612308"/>
            <a:ext cx="149944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900243" y="5612308"/>
            <a:ext cx="359643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8025" y="447675"/>
            <a:ext cx="8382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291607"/>
            <a:ext cx="1122045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104900"/>
            <a:ext cx="5514975" cy="26628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1104900"/>
            <a:ext cx="5514975" cy="26628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390525"/>
            <a:ext cx="35718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Inter"/>
              </a:rPr>
              <a:t>8. Components in 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3882032"/>
            <a:ext cx="1144905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Key Differences: Functional vs Class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3910607"/>
            <a:ext cx="180975" cy="180975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5300" y="4301132"/>
          <a:ext cx="11201399" cy="203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2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7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18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Functional 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8BDF8"/>
                          </a:solidFill>
                          <a:latin typeface="Space Grotesk SemiBold"/>
                        </a:rPr>
                        <a:t>Class 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Inter"/>
                        </a:rPr>
                        <a:t>Syntax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JavaScript Function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ES6 Class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Inter"/>
                        </a:rPr>
                        <a:t>State Management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Using useState Hook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Using this.state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Inter"/>
                        </a:rPr>
                        <a:t>Lifecycle Methods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Not Available (Handled via useEffect)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Available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Inter"/>
                        </a:rPr>
                        <a:t>Code Size &amp; Performance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Shorter &amp; Better performance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Longer &amp; Comparatively less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Inter"/>
                        </a:rPr>
                        <a:t>this Keyword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Not used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Inter"/>
                        </a:rPr>
                        <a:t>Used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31C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" y="1323975"/>
            <a:ext cx="537067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1. Functional Component (Modern Standard)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657350"/>
            <a:ext cx="51149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Simple JavaScript functions returning JSX. Uses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Hooks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for state &amp; lifecycle (React 16.8+).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275" y="1304925"/>
            <a:ext cx="537067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2. Class Component (Legacy Support)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1638300"/>
            <a:ext cx="51149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ES6 classes extending React.Component with render() returning JSX.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" y="2347912"/>
            <a:ext cx="609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4475" y="2347912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61AFEF"/>
                </a:solidFill>
                <a:latin typeface="Fira Code"/>
              </a:rPr>
              <a:t>Welcome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075" y="2527399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5" y="3245346"/>
            <a:ext cx="1066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export default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150" y="2121693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import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0" y="2121693"/>
            <a:ext cx="304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from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0" y="2121693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8C379"/>
                </a:solidFill>
                <a:latin typeface="Fira Code"/>
              </a:rPr>
              <a:t>'react'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150" y="2301180"/>
            <a:ext cx="381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1350" y="2301180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61AFEF"/>
                </a:solidFill>
                <a:latin typeface="Fira Code"/>
              </a:rPr>
              <a:t>Welcome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0950" y="2301180"/>
            <a:ext cx="53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extends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6550" y="2480667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61AFEF"/>
                </a:solidFill>
                <a:latin typeface="Fira Code"/>
              </a:rPr>
              <a:t>render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8950" y="2660153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4150" y="3198614"/>
            <a:ext cx="1066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export default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300" y="4972645"/>
            <a:ext cx="317256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67869" y="4972645"/>
            <a:ext cx="459700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64872" y="4972645"/>
            <a:ext cx="343182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95300" y="5315545"/>
            <a:ext cx="317256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67869" y="5315545"/>
            <a:ext cx="459700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64872" y="5315545"/>
            <a:ext cx="343182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95300" y="5658445"/>
            <a:ext cx="317256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67869" y="5658445"/>
            <a:ext cx="459700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64872" y="5658445"/>
            <a:ext cx="343182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5300" y="5991820"/>
            <a:ext cx="317256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667869" y="5991820"/>
            <a:ext cx="459700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64872" y="5991820"/>
            <a:ext cx="343182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8025" y="447675"/>
            <a:ext cx="8382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104900"/>
            <a:ext cx="5514975" cy="21481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104900"/>
            <a:ext cx="5514975" cy="21481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3367385"/>
            <a:ext cx="3638550" cy="251221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6725" y="3367385"/>
            <a:ext cx="3638550" cy="251221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675" y="3367385"/>
            <a:ext cx="3638550" cy="25122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390525"/>
            <a:ext cx="36480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Inter"/>
              </a:rPr>
              <a:t>9. JSX (JavaScript XML)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1304925"/>
            <a:ext cx="505063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What &amp; Why JSX?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38300"/>
            <a:ext cx="51149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JSX stands for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JavaScript XML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. It allows writing HTML-like syntax inside JavaScript.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28837"/>
            <a:ext cx="51149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Babel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transpiles JSX into regular JavaScript (React.createElement()).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12206"/>
            <a:ext cx="51149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Why JSX: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Easier to write/maintain UI, prevents XSS attacks, faster developer experience.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8450" y="1323975"/>
            <a:ext cx="5100637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5 Crucial JSX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67410"/>
            <a:ext cx="3400425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JSX Expressions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6750" y="3567410"/>
            <a:ext cx="3400425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JSX Conditions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7700" y="3567410"/>
            <a:ext cx="3400425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JSX Lists (map)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333500"/>
            <a:ext cx="22860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275" y="1352550"/>
            <a:ext cx="180975" cy="1809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62725" y="1714500"/>
            <a:ext cx="4943475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1. Must return a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single parent element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1977330"/>
            <a:ext cx="4943475" cy="192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2. Always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close all tags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(e.g., 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725" y="2246262"/>
            <a:ext cx="4943475" cy="192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3. Use className instead of class.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725" y="2515195"/>
            <a:ext cx="4943475" cy="192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4. Use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camelCase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for attributes (onClick, htmlFor).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2725" y="2784127"/>
            <a:ext cx="4943475" cy="192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5. JS expressions must be written inside { } curly braces.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75" y="4100810"/>
            <a:ext cx="381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19275" y="4100810"/>
            <a:ext cx="1219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8C379"/>
                </a:solidFill>
                <a:latin typeface="Fira Code"/>
              </a:rPr>
              <a:t>"Ashram Academy"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75" y="4280296"/>
            <a:ext cx="381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9625" y="4100810"/>
            <a:ext cx="381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8825" y="4100810"/>
            <a:ext cx="304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true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9625" y="4280296"/>
            <a:ext cx="381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0575" y="4100810"/>
            <a:ext cx="381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3575" y="4100810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8C379"/>
                </a:solidFill>
                <a:latin typeface="Fira Code"/>
              </a:rPr>
              <a:t>'HTML'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63175" y="4100810"/>
            <a:ext cx="381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8C379"/>
                </a:solidFill>
                <a:latin typeface="Fira Code"/>
              </a:rPr>
              <a:t>'CSS'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6575" y="4100810"/>
            <a:ext cx="304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8C379"/>
                </a:solidFill>
                <a:latin typeface="Fira Code"/>
              </a:rPr>
              <a:t>'JS'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0575" y="4280296"/>
            <a:ext cx="381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const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8775" y="4639270"/>
            <a:ext cx="228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61AFEF"/>
                </a:solidFill>
                <a:latin typeface="Fira Code"/>
              </a:rPr>
              <a:t>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43975" y="4818757"/>
            <a:ext cx="228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D19A66"/>
                </a:solidFill>
                <a:latin typeface="Fira Code"/>
              </a:rPr>
              <a:t>key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77375" y="4818757"/>
            <a:ext cx="76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E06C75"/>
                </a:solidFill>
                <a:latin typeface="Fira Code"/>
              </a:rPr>
              <a:t>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275" y="171450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275" y="197733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1275" y="2246262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1275" y="2515195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1275" y="2784127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8025" y="447675"/>
            <a:ext cx="8382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104900"/>
            <a:ext cx="5514975" cy="21542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104900"/>
            <a:ext cx="5514975" cy="21542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3373487"/>
            <a:ext cx="5514975" cy="289976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3373487"/>
            <a:ext cx="5514975" cy="28997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390525"/>
            <a:ext cx="26574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Inter"/>
              </a:rPr>
              <a:t>10. Props in 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1304925"/>
            <a:ext cx="512064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What are Props?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38300"/>
            <a:ext cx="51149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Props (Properties) pass data from one component to another (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Parent → Child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28837"/>
            <a:ext cx="51149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Props are </a:t>
            </a:r>
            <a:r>
              <a:rPr sz="1125" b="1" i="0" u="none">
                <a:solidFill>
                  <a:srgbClr val="CBD5E1"/>
                </a:solidFill>
                <a:latin typeface="Inter"/>
              </a:rPr>
              <a:t>read-only and immutable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(cannot be modified by child).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12206"/>
            <a:ext cx="511492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• Passed via HTML attributes inside JSX tags.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0" y="1323975"/>
            <a:ext cx="5080635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5 Types of Props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73512"/>
            <a:ext cx="5370671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Parent Component (App.js)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3573512"/>
            <a:ext cx="5370671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38BDF8"/>
                </a:solidFill>
                <a:latin typeface="Space Grotesk SemiBold"/>
              </a:rPr>
              <a:t>Child Component (Greet.js)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333500"/>
            <a:ext cx="161925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1352550"/>
            <a:ext cx="200025" cy="1809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62725" y="1714500"/>
            <a:ext cx="4943475" cy="192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1.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String: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1983432"/>
            <a:ext cx="4943475" cy="192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2.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Number: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2252364"/>
            <a:ext cx="4943475" cy="192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3.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Boolean: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2521297"/>
            <a:ext cx="4943475" cy="192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4.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Object/Array: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725" y="2790229"/>
            <a:ext cx="4943475" cy="192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5.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Function: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4135487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import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9275" y="4135487"/>
            <a:ext cx="304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from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00275" y="4135487"/>
            <a:ext cx="685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8C379"/>
                </a:solidFill>
                <a:latin typeface="Fira Code"/>
              </a:rPr>
              <a:t>'./Greet'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75" y="4314973"/>
            <a:ext cx="609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function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4475" y="4314973"/>
            <a:ext cx="228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61AFEF"/>
                </a:solidFill>
                <a:latin typeface="Fira Code"/>
              </a:rPr>
              <a:t>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075" y="4494460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2075" y="5032920"/>
            <a:ext cx="304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D19A66"/>
                </a:solidFill>
                <a:latin typeface="Fira Code"/>
              </a:rPr>
              <a:t>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3075" y="5032920"/>
            <a:ext cx="1219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8C379"/>
                </a:solidFill>
                <a:latin typeface="Fira Code"/>
              </a:rPr>
              <a:t>"Ashram Academy"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38475" y="5032920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D19A66"/>
                </a:solidFill>
                <a:latin typeface="Fira Code"/>
              </a:rPr>
              <a:t>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1875" y="5032920"/>
            <a:ext cx="762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8C379"/>
                </a:solidFill>
                <a:latin typeface="Fira Code"/>
              </a:rPr>
              <a:t>"React JS"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3875" y="5032920"/>
            <a:ext cx="152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E06C75"/>
                </a:solidFill>
                <a:latin typeface="Fira Code"/>
              </a:rPr>
              <a:t>/&gt;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675" y="5750867"/>
            <a:ext cx="1066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export default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4150" y="4135487"/>
            <a:ext cx="609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function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950" y="4135487"/>
            <a:ext cx="3810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61AFEF"/>
                </a:solidFill>
                <a:latin typeface="Fira Code"/>
              </a:rPr>
              <a:t>Greet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86550" y="4314973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return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4150" y="5571380"/>
            <a:ext cx="1066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C678DD"/>
                </a:solidFill>
                <a:latin typeface="Fira Code"/>
              </a:rPr>
              <a:t>export default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275" y="1714500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275" y="1983432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1275" y="2252364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1275" y="2521297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1275" y="2790229"/>
            <a:ext cx="95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350" b="0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0" y="3777108"/>
            <a:ext cx="4000500" cy="781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95625" y="2299841"/>
            <a:ext cx="6000750" cy="591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1" i="0" u="none">
                <a:solidFill>
                  <a:srgbClr val="38BDF8"/>
                </a:solidFill>
                <a:latin typeface="Space Grotesk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8962" y="3034158"/>
            <a:ext cx="59340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You have completed all 10 core topics of Introduction to ReactJS!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958083"/>
            <a:ext cx="21336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350" b="1" i="0" u="none" dirty="0" smtClean="0">
                <a:solidFill>
                  <a:srgbClr val="38BDF8"/>
                </a:solidFill>
                <a:latin typeface="Inter"/>
              </a:rPr>
              <a:t>Thank You</a:t>
            </a:r>
            <a:endParaRPr sz="1350" b="1" i="0" u="none" dirty="0">
              <a:solidFill>
                <a:srgbClr val="38BDF8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48175" y="4215258"/>
            <a:ext cx="3295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 sz="1050" b="0" i="0" u="none" dirty="0">
              <a:solidFill>
                <a:srgbClr val="CBD5E1"/>
              </a:solidFill>
              <a:latin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1834</Words>
  <Application>Microsoft Office PowerPoint</Application>
  <PresentationFormat>Widescreen</PresentationFormat>
  <Paragraphs>404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Fira Code</vt:lpstr>
      <vt:lpstr>Inter</vt:lpstr>
      <vt:lpstr>Space Grotesk</vt:lpstr>
      <vt:lpstr>Space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AtriDatta</cp:lastModifiedBy>
  <cp:revision>3</cp:revision>
  <dcterms:created xsi:type="dcterms:W3CDTF">2013-01-27T09:14:16Z</dcterms:created>
  <dcterms:modified xsi:type="dcterms:W3CDTF">2026-08-01T11:03:04Z</dcterms:modified>
  <cp:category/>
</cp:coreProperties>
</file>